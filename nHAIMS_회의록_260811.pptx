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668" autoAdjust="0"/>
  </p:normalViewPr>
  <p:slideViewPr>
    <p:cSldViewPr>
      <p:cViewPr varScale="1">
        <p:scale>
          <a:sx n="85" d="100"/>
          <a:sy n="85" d="100"/>
        </p:scale>
        <p:origin x="332" y="6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318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8BD3804-60A0-A10D-7457-4C7C3766A1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15E8C5-6481-FB45-461A-F839F79CC0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84BA3-46FD-4ED7-9BD3-84F3B66406D7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47E794-5B81-925C-6DF2-2AC3BECBA3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C5B0E-5C0F-F3CC-C26A-91CAD9AA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25601-E4EB-414F-BE31-35FF810E9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806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3C456-A060-4B1B-9D16-016D8629A60D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A3A9E-3918-4C3A-8CD9-A434CE9E3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39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A3A9E-3918-4C3A-8CD9-A434CE9E318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65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‹#›</a:t>
            </a:fld>
            <a:endParaRPr spc="4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‹#›</a:t>
            </a:fld>
            <a:endParaRPr spc="4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‹#›</a:t>
            </a:fld>
            <a:endParaRPr spc="4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‹#›</a:t>
            </a:fld>
            <a:endParaRPr spc="4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‹#›</a:t>
            </a:fld>
            <a:endParaRPr spc="4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056" y="10207900"/>
            <a:ext cx="158114" cy="151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‹#›</a:t>
            </a:fld>
            <a:endParaRPr spc="4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060" y="340465"/>
            <a:ext cx="14121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  <a:tab pos="802640" algn="l"/>
              </a:tabLst>
            </a:pPr>
            <a:r>
              <a:rPr sz="2200" b="1" spc="-50" dirty="0">
                <a:latin typeface="+mn-ea"/>
                <a:ea typeface="+mn-ea"/>
                <a:cs typeface="Adobe Clean Han ExtraBold"/>
              </a:rPr>
              <a:t>회</a:t>
            </a:r>
            <a:r>
              <a:rPr sz="2200" b="1" dirty="0">
                <a:latin typeface="+mn-ea"/>
                <a:ea typeface="+mn-ea"/>
                <a:cs typeface="Adobe Clean Han ExtraBold"/>
              </a:rPr>
              <a:t>	</a:t>
            </a:r>
            <a:r>
              <a:rPr sz="2200" b="1" spc="-50" dirty="0">
                <a:latin typeface="+mn-ea"/>
                <a:ea typeface="+mn-ea"/>
                <a:cs typeface="Adobe Clean Han ExtraBold"/>
              </a:rPr>
              <a:t>의</a:t>
            </a:r>
            <a:r>
              <a:rPr sz="2200" b="1" dirty="0">
                <a:latin typeface="+mn-ea"/>
                <a:ea typeface="+mn-ea"/>
                <a:cs typeface="Adobe Clean Han ExtraBold"/>
              </a:rPr>
              <a:t>	</a:t>
            </a:r>
            <a:r>
              <a:rPr sz="2200" b="1" spc="-50" dirty="0">
                <a:latin typeface="+mn-ea"/>
                <a:ea typeface="+mn-ea"/>
                <a:cs typeface="Adobe Clean Han ExtraBold"/>
              </a:rPr>
              <a:t>록</a:t>
            </a:r>
            <a:endParaRPr sz="2200" dirty="0">
              <a:latin typeface="+mn-ea"/>
              <a:ea typeface="+mn-ea"/>
              <a:cs typeface="Adobe Clean Han ExtraBold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165381"/>
              </p:ext>
            </p:extLst>
          </p:nvPr>
        </p:nvGraphicFramePr>
        <p:xfrm>
          <a:off x="349250" y="698501"/>
          <a:ext cx="6823688" cy="9542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9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0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주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제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11176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ts val="1020"/>
                        </a:lnSpc>
                      </a:pPr>
                      <a:r>
                        <a:rPr sz="850" b="0" spc="-75" dirty="0">
                          <a:latin typeface="Adobe Gothic Std L"/>
                          <a:cs typeface="Adobe Gothic Std L"/>
                        </a:rPr>
                        <a:t>국내유통망</a:t>
                      </a:r>
                      <a:r>
                        <a:rPr sz="85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50" b="0" spc="-75" dirty="0">
                          <a:latin typeface="Adobe Gothic Std L"/>
                          <a:cs typeface="Adobe Gothic Std L"/>
                        </a:rPr>
                        <a:t>차세대</a:t>
                      </a:r>
                      <a:r>
                        <a:rPr sz="85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50" b="0" spc="-75" dirty="0">
                          <a:latin typeface="Adobe Gothic Std L"/>
                          <a:cs typeface="Adobe Gothic Std L"/>
                        </a:rPr>
                        <a:t>시스템</a:t>
                      </a:r>
                      <a:r>
                        <a:rPr sz="85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50" b="0" spc="-400" dirty="0">
                          <a:latin typeface="Adobe Gothic Std L"/>
                          <a:cs typeface="Adobe Gothic Std L"/>
                        </a:rPr>
                        <a:t>–</a:t>
                      </a:r>
                      <a:r>
                        <a:rPr sz="85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50" b="0" spc="-40" dirty="0">
                          <a:latin typeface="Adobe Gothic Std L"/>
                          <a:cs typeface="Adobe Gothic Std L"/>
                        </a:rPr>
                        <a:t>물류부문</a:t>
                      </a:r>
                      <a:r>
                        <a:rPr sz="850" b="0" spc="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5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8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0" spc="-10" dirty="0" err="1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sz="85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85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50" b="0" spc="-80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850" b="0" spc="-7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50" spc="-50" dirty="0">
                          <a:latin typeface="Trebuchet MS"/>
                          <a:cs typeface="Trebuchet MS"/>
                        </a:rPr>
                        <a:t>)</a:t>
                      </a:r>
                      <a:endParaRPr sz="850" dirty="0">
                        <a:latin typeface="Trebuchet MS"/>
                        <a:cs typeface="Trebuchet MS"/>
                      </a:endParaRPr>
                    </a:p>
                  </a:txBody>
                  <a:tcPr marL="0" marR="0" marT="254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구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분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830"/>
                        </a:spcBef>
                        <a:tabLst>
                          <a:tab pos="1121410" algn="l"/>
                        </a:tabLst>
                      </a:pPr>
                      <a:r>
                        <a:rPr sz="1200" b="0" spc="-30" baseline="3472" dirty="0">
                          <a:latin typeface="Adobe Gothic Std L"/>
                          <a:cs typeface="Adobe Gothic Std L"/>
                        </a:rPr>
                        <a:t>정보전달</a:t>
                      </a:r>
                      <a:r>
                        <a:rPr sz="1200" b="0" baseline="3472" dirty="0">
                          <a:latin typeface="Adobe Gothic Std L"/>
                          <a:cs typeface="Adobe Gothic Std L"/>
                        </a:rPr>
                        <a:t>	</a:t>
                      </a:r>
                      <a:r>
                        <a:rPr sz="900" b="1" spc="85" dirty="0">
                          <a:latin typeface="Trebuchet MS"/>
                          <a:cs typeface="Trebuchet MS"/>
                        </a:rPr>
                        <a:t>V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  <a:p>
                      <a:pPr marL="180975" marR="899794">
                        <a:lnSpc>
                          <a:spcPts val="1190"/>
                        </a:lnSpc>
                        <a:spcBef>
                          <a:spcPts val="15"/>
                        </a:spcBef>
                      </a:pPr>
                      <a:r>
                        <a:rPr sz="800" b="0" spc="-80" dirty="0">
                          <a:latin typeface="Adobe Gothic Std L"/>
                          <a:cs typeface="Adobe Gothic Std L"/>
                        </a:rPr>
                        <a:t>이해조정</a:t>
                      </a:r>
                      <a:r>
                        <a:rPr sz="800" b="0" spc="5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00" b="0" spc="-80" dirty="0">
                          <a:latin typeface="Adobe Gothic Std L"/>
                          <a:cs typeface="Adobe Gothic Std L"/>
                        </a:rPr>
                        <a:t>의견교환</a:t>
                      </a:r>
                      <a:endParaRPr sz="800" dirty="0">
                        <a:latin typeface="Adobe Gothic Std L"/>
                        <a:cs typeface="Adobe Gothic Std L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b="0" spc="-20" dirty="0">
                          <a:latin typeface="Adobe Gothic Std L"/>
                          <a:cs typeface="Adobe Gothic Std L"/>
                        </a:rPr>
                        <a:t>문제해결</a:t>
                      </a:r>
                      <a:endParaRPr sz="800" dirty="0">
                        <a:latin typeface="Adobe Gothic Std L"/>
                        <a:cs typeface="Adobe Gothic Std L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800" b="0" spc="-70" dirty="0">
                          <a:latin typeface="Adobe Gothic Std L"/>
                          <a:cs typeface="Adobe Gothic Std L"/>
                        </a:rPr>
                        <a:t>기</a:t>
                      </a:r>
                      <a:r>
                        <a:rPr sz="8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800" b="0" spc="-50" dirty="0">
                          <a:latin typeface="Adobe Gothic Std L"/>
                          <a:cs typeface="Adobe Gothic Std L"/>
                        </a:rPr>
                        <a:t>타</a:t>
                      </a:r>
                      <a:endParaRPr sz="800" dirty="0">
                        <a:latin typeface="Adobe Gothic Std L"/>
                        <a:cs typeface="Adobe Gothic Std L"/>
                      </a:endParaRPr>
                    </a:p>
                  </a:txBody>
                  <a:tcPr marL="0" marR="0" marT="7493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7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주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관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팀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11176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50" b="0" spc="-60" dirty="0">
                          <a:latin typeface="Adobe Gothic Std L"/>
                          <a:cs typeface="Adobe Gothic Std L"/>
                        </a:rPr>
                        <a:t>모비스서비스</a:t>
                      </a:r>
                      <a:r>
                        <a:rPr sz="950" b="0" spc="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PI</a:t>
                      </a:r>
                      <a:r>
                        <a:rPr sz="95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25" dirty="0">
                          <a:latin typeface="Adobe Gothic Std L"/>
                          <a:cs typeface="Adobe Gothic Std L"/>
                        </a:rPr>
                        <a:t>추진팀</a:t>
                      </a:r>
                      <a:endParaRPr sz="950" dirty="0">
                        <a:latin typeface="Adobe Gothic Std L"/>
                        <a:cs typeface="Adobe Gothic Std L"/>
                      </a:endParaRPr>
                    </a:p>
                  </a:txBody>
                  <a:tcPr marL="0" marR="0" marT="11938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00" b="1" dirty="0">
                          <a:latin typeface="Adobe Clean Han ExtraBold"/>
                          <a:cs typeface="Adobe Clean Han ExtraBold"/>
                        </a:rPr>
                        <a:t>작</a:t>
                      </a:r>
                      <a:r>
                        <a:rPr sz="10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00" b="1" dirty="0">
                          <a:latin typeface="Adobe Clean Han ExtraBold"/>
                          <a:cs typeface="Adobe Clean Han ExtraBold"/>
                        </a:rPr>
                        <a:t>성</a:t>
                      </a:r>
                      <a:r>
                        <a:rPr sz="10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00" b="1" spc="-50" dirty="0">
                          <a:latin typeface="Adobe Clean Han ExtraBold"/>
                          <a:cs typeface="Adobe Clean Han ExtraBold"/>
                        </a:rPr>
                        <a:t>자</a:t>
                      </a:r>
                      <a:endParaRPr sz="10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11557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이정재</a:t>
                      </a:r>
                      <a:r>
                        <a:rPr sz="95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b="0" spc="-25" dirty="0">
                          <a:latin typeface="Adobe Gothic Std L"/>
                          <a:cs typeface="Adobe Gothic Std L"/>
                        </a:rPr>
                        <a:t>위원</a:t>
                      </a:r>
                      <a:endParaRPr sz="950">
                        <a:latin typeface="Adobe Gothic Std L"/>
                        <a:cs typeface="Adobe Gothic Std L"/>
                      </a:endParaRPr>
                    </a:p>
                  </a:txBody>
                  <a:tcPr marL="0" marR="0" marT="11938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93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7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장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소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11176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50" b="0" spc="-80" dirty="0">
                          <a:latin typeface="Adobe Gothic Std L"/>
                          <a:cs typeface="Adobe Gothic Std L"/>
                        </a:rPr>
                        <a:t>위워크선릉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lang="en-US" sz="950" spc="7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B</a:t>
                      </a:r>
                      <a:endParaRPr sz="950" dirty="0">
                        <a:latin typeface="Trebuchet MS"/>
                        <a:cs typeface="Trebuchet MS"/>
                      </a:endParaRPr>
                    </a:p>
                  </a:txBody>
                  <a:tcPr marL="0" marR="0" marT="11938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0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0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0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0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00" b="1" spc="-50" dirty="0">
                          <a:latin typeface="Adobe Clean Han ExtraBold"/>
                          <a:cs typeface="Adobe Clean Han ExtraBold"/>
                        </a:rPr>
                        <a:t>일</a:t>
                      </a:r>
                      <a:endParaRPr sz="10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11557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2026.08.11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9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화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spc="-50" dirty="0">
                          <a:latin typeface="Trebuchet MS"/>
                          <a:cs typeface="Trebuchet MS"/>
                        </a:rPr>
                        <a:t>)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19380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93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7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시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간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14859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1022985" algn="l"/>
                          <a:tab pos="2046605" algn="l"/>
                        </a:tabLst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09:00</a:t>
                      </a:r>
                      <a:r>
                        <a:rPr sz="95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295" dirty="0">
                          <a:latin typeface="Trebuchet MS"/>
                          <a:cs typeface="Trebuchet MS"/>
                        </a:rPr>
                        <a:t>~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45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lang="en-US" sz="950" spc="45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spc="45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en-US" sz="950" spc="45" dirty="0">
                          <a:latin typeface="Trebuchet MS"/>
                          <a:cs typeface="Trebuchet MS"/>
                        </a:rPr>
                        <a:t>00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13:17</a:t>
                      </a:r>
                      <a:r>
                        <a:rPr sz="95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295" dirty="0">
                          <a:latin typeface="Trebuchet MS"/>
                          <a:cs typeface="Trebuchet MS"/>
                        </a:rPr>
                        <a:t>~</a:t>
                      </a:r>
                      <a:r>
                        <a:rPr sz="95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45" dirty="0">
                          <a:latin typeface="Trebuchet MS"/>
                          <a:cs typeface="Trebuchet MS"/>
                        </a:rPr>
                        <a:t>14:</a:t>
                      </a:r>
                      <a:r>
                        <a:rPr lang="en-US" sz="950" spc="45" dirty="0">
                          <a:latin typeface="Trebuchet MS"/>
                          <a:cs typeface="Trebuchet MS"/>
                        </a:rPr>
                        <a:t>30</a:t>
                      </a:r>
                      <a:endParaRPr sz="950" dirty="0">
                        <a:latin typeface="Trebuchet MS"/>
                        <a:cs typeface="Trebuchet MS"/>
                      </a:endParaRPr>
                    </a:p>
                  </a:txBody>
                  <a:tcPr marL="0" marR="0" marT="17145" marB="0" anchor="ctr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717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참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석</a:t>
                      </a:r>
                      <a:r>
                        <a:rPr sz="110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자</a:t>
                      </a:r>
                      <a:endParaRPr sz="11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223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7350">
                <a:tc gridSpan="5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9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모비스서비스</a:t>
                      </a:r>
                      <a:r>
                        <a:rPr sz="950" b="0" spc="-6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PI</a:t>
                      </a:r>
                      <a:r>
                        <a:rPr sz="950" spc="2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추진팀</a:t>
                      </a:r>
                      <a:r>
                        <a:rPr sz="95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]</a:t>
                      </a:r>
                      <a:r>
                        <a:rPr sz="95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박지호</a:t>
                      </a:r>
                      <a:r>
                        <a:rPr sz="95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b="0" spc="-25" dirty="0">
                          <a:latin typeface="Adobe Gothic Std L"/>
                          <a:cs typeface="Adobe Gothic Std L"/>
                        </a:rPr>
                        <a:t>책임</a:t>
                      </a:r>
                      <a:endParaRPr sz="950" dirty="0">
                        <a:latin typeface="Adobe Gothic Std L"/>
                        <a:cs typeface="Adobe Gothic Std L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9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모비스부품운영팀</a:t>
                      </a:r>
                      <a:r>
                        <a:rPr sz="950" b="0" spc="-6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]</a:t>
                      </a:r>
                      <a:r>
                        <a:rPr sz="95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김창준</a:t>
                      </a:r>
                      <a:r>
                        <a:rPr sz="95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b="0" spc="-25" dirty="0">
                          <a:latin typeface="Adobe Gothic Std L"/>
                          <a:cs typeface="Adobe Gothic Std L"/>
                        </a:rPr>
                        <a:t>책임</a:t>
                      </a:r>
                      <a:endParaRPr sz="950" dirty="0">
                        <a:latin typeface="Adobe Gothic Std L"/>
                        <a:cs typeface="Adobe Gothic Std L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9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수행사</a:t>
                      </a:r>
                      <a:r>
                        <a:rPr sz="95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기존 </a:t>
                      </a:r>
                      <a:r>
                        <a:rPr sz="950" spc="-185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9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물류 </a:t>
                      </a:r>
                      <a:r>
                        <a:rPr sz="950" spc="-185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9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품질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]</a:t>
                      </a:r>
                      <a:r>
                        <a:rPr sz="950" spc="2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이정재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950" spc="2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오국환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950" spc="2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김진래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950" spc="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박주일</a:t>
                      </a:r>
                      <a:r>
                        <a:rPr sz="95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950" spc="2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25" dirty="0">
                          <a:latin typeface="Adobe Gothic Std L"/>
                          <a:cs typeface="Adobe Gothic Std L"/>
                        </a:rPr>
                        <a:t>조동명</a:t>
                      </a:r>
                      <a:endParaRPr sz="950" dirty="0">
                        <a:latin typeface="Adobe Gothic Std L"/>
                        <a:cs typeface="Adobe Gothic Std L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[</a:t>
                      </a:r>
                      <a:r>
                        <a:rPr sz="9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수행사</a:t>
                      </a:r>
                      <a:r>
                        <a:rPr sz="95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b="0" spc="-85" dirty="0">
                          <a:latin typeface="Adobe Gothic Std L"/>
                          <a:cs typeface="Adobe Gothic Std L"/>
                        </a:rPr>
                        <a:t>데이터아키텍쳐</a:t>
                      </a:r>
                      <a:r>
                        <a:rPr sz="950" b="0" spc="-6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]</a:t>
                      </a:r>
                      <a:r>
                        <a:rPr sz="950" spc="2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0" spc="-25" dirty="0">
                          <a:latin typeface="Adobe Gothic Std L"/>
                          <a:cs typeface="Adobe Gothic Std L"/>
                        </a:rPr>
                        <a:t>이선실</a:t>
                      </a:r>
                      <a:endParaRPr sz="950" dirty="0">
                        <a:latin typeface="Adobe Gothic Std L"/>
                        <a:cs typeface="Adobe Gothic Std L"/>
                      </a:endParaRPr>
                    </a:p>
                  </a:txBody>
                  <a:tcPr marL="0" marR="0" marT="9398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893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10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내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spc="-50" dirty="0">
                          <a:latin typeface="Adobe Clean Han ExtraBold"/>
                          <a:cs typeface="Adobe Clean Han ExtraBold"/>
                        </a:rPr>
                        <a:t>용</a:t>
                      </a:r>
                      <a:endParaRPr sz="11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2230" marB="0" anchor="ctr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00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 marL="478155" indent="-242570">
                        <a:lnSpc>
                          <a:spcPct val="100000"/>
                        </a:lnSpc>
                        <a:buFont typeface="Trebuchet MS"/>
                        <a:buAutoNum type="arabicPeriod"/>
                        <a:tabLst>
                          <a:tab pos="478155" algn="l"/>
                        </a:tabLst>
                      </a:pPr>
                      <a:r>
                        <a:rPr sz="1150" b="1" dirty="0">
                          <a:latin typeface="Adobe Clean Han ExtraBold"/>
                          <a:cs typeface="Adobe Clean Han ExtraBold"/>
                        </a:rPr>
                        <a:t>주요</a:t>
                      </a:r>
                      <a:r>
                        <a:rPr sz="1150" b="1" spc="-8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50" b="1" dirty="0" err="1">
                          <a:latin typeface="Adobe Clean Han ExtraBold"/>
                          <a:cs typeface="Adobe Clean Han ExtraBold"/>
                        </a:rPr>
                        <a:t>설명</a:t>
                      </a:r>
                      <a:r>
                        <a:rPr sz="1150" b="1" spc="-7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50" b="1" spc="-25" dirty="0" err="1">
                          <a:latin typeface="Adobe Clean Han ExtraBold"/>
                          <a:cs typeface="Adobe Clean Han ExtraBold"/>
                        </a:rPr>
                        <a:t>사항</a:t>
                      </a:r>
                      <a:endParaRPr lang="en-US" sz="1150" b="1" spc="-25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478155" indent="-242570">
                        <a:lnSpc>
                          <a:spcPct val="100000"/>
                        </a:lnSpc>
                        <a:buFont typeface="Trebuchet MS"/>
                        <a:buAutoNum type="arabicPeriod"/>
                        <a:tabLst>
                          <a:tab pos="478155" algn="l"/>
                        </a:tabLst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64210" lvl="1" indent="-227329">
                        <a:lnSpc>
                          <a:spcPct val="100000"/>
                        </a:lnSpc>
                        <a:buFont typeface="Trebuchet MS"/>
                        <a:buAutoNum type="arabicParenR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배송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기본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개념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및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지시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 err="1">
                          <a:latin typeface="Adobe Clean Han ExtraBold"/>
                          <a:cs typeface="Adobe Clean Han ExtraBold"/>
                        </a:rPr>
                        <a:t>체계</a:t>
                      </a:r>
                      <a:endParaRPr lang="ko-KR" altLang="en-US"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803275" marR="427355" lvl="2" indent="-18034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주문번호에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페이지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 err="1">
                          <a:latin typeface="Adobe Gothic Std L"/>
                          <a:cs typeface="Adobe Gothic Std L"/>
                        </a:rPr>
                        <a:t>주문증표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)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가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생성된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건만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대상이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됨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lang="ko-KR" altLang="en-US" sz="100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주문번호만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있고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증표가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생성되지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75" dirty="0">
                          <a:latin typeface="Adobe Gothic Std L"/>
                          <a:cs typeface="Adobe Gothic Std L"/>
                        </a:rPr>
                        <a:t>않은 건은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지시도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관리도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불가 함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spc="-50" dirty="0">
                        <a:latin typeface="Trebuchet MS"/>
                        <a:cs typeface="Trebuchet MS"/>
                      </a:endParaRPr>
                    </a:p>
                    <a:p>
                      <a:pPr marL="803275" marR="427355" lvl="2" indent="-18034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70" dirty="0">
                          <a:latin typeface="Adobe Gothic Std L"/>
                          <a:cs typeface="Adobe Gothic Std L"/>
                        </a:rPr>
                        <a:t>배송지시번호</a:t>
                      </a:r>
                      <a:r>
                        <a:rPr lang="ko-KR" altLang="en-US" sz="1000" b="0" spc="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lang="ko-KR" altLang="en-US" sz="1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건에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복수의</a:t>
                      </a:r>
                      <a:r>
                        <a:rPr lang="ko-KR" altLang="en-US" sz="1000" b="0" spc="-125" dirty="0">
                          <a:latin typeface="Adobe Gothic Std L"/>
                          <a:cs typeface="Adobe Gothic Std L"/>
                        </a:rPr>
                        <a:t>  </a:t>
                      </a:r>
                      <a:r>
                        <a:rPr lang="ko-KR" altLang="en-US" sz="1000" b="0" spc="-90" dirty="0" err="1">
                          <a:latin typeface="Adobe Gothic Std L"/>
                          <a:cs typeface="Adobe Gothic Std L"/>
                        </a:rPr>
                        <a:t>주문증표를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묶어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특정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기사에게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지시함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lang="ko-KR" altLang="en-US" sz="1000" spc="2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지시는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10" dirty="0">
                          <a:latin typeface="Adobe Gothic Std L"/>
                          <a:cs typeface="Adobe Gothic Std L"/>
                        </a:rPr>
                        <a:t>웹과</a:t>
                      </a:r>
                      <a:r>
                        <a:rPr lang="ko-KR" altLang="en-US" sz="1000" b="0" spc="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80" dirty="0">
                          <a:latin typeface="Trebuchet MS"/>
                          <a:cs typeface="Trebuchet MS"/>
                        </a:rPr>
                        <a:t>PDA</a:t>
                      </a:r>
                      <a:r>
                        <a:rPr lang="ko-KR" altLang="en-US" sz="1000" spc="2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양쪽에서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생성할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50" dirty="0">
                          <a:latin typeface="Adobe Gothic Std L"/>
                          <a:cs typeface="Adobe Gothic Std L"/>
                        </a:rPr>
                        <a:t>수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있으며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lang="ko-KR" altLang="en-US"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이미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생성된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지시번호에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증표를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계속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추가할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있음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6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lang="ko-KR" altLang="en-US" sz="1000" dirty="0">
                          <a:latin typeface="Trebuchet MS"/>
                          <a:cs typeface="Trebuchet MS"/>
                        </a:rPr>
                        <a:t> </a:t>
                      </a:r>
                      <a:endParaRPr lang="en-US" altLang="ko-KR" sz="1000" dirty="0">
                        <a:latin typeface="Trebuchet MS"/>
                        <a:cs typeface="Trebuchet MS"/>
                      </a:endParaRPr>
                    </a:p>
                    <a:p>
                      <a:pPr marL="803275" marR="427355" lvl="2" indent="-18034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 err="1">
                          <a:latin typeface="Adobe Gothic Std L"/>
                          <a:cs typeface="Adobe Gothic Std L"/>
                        </a:rPr>
                        <a:t>배송지시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진행현황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배송기사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관리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배송차량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관리의</a:t>
                      </a:r>
                      <a:r>
                        <a:rPr sz="1000" b="0" spc="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1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화면으로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구성함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590550" lvl="2" indent="-18034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현재는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증표를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직접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건네고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카톡방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배송일지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화이트보드로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관리하고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근거가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남지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않음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전산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관리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수단을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제공하되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사용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여부는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대리점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자율로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둠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lvl="1" indent="-227329">
                        <a:lnSpc>
                          <a:spcPct val="200000"/>
                        </a:lnSpc>
                        <a:spcBef>
                          <a:spcPts val="1010"/>
                        </a:spcBef>
                        <a:buFont typeface="Trebuchet MS"/>
                        <a:buAutoNum type="arabicParenR"/>
                        <a:tabLst>
                          <a:tab pos="664210" algn="l"/>
                        </a:tabLst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배송기사</a:t>
                      </a:r>
                      <a:r>
                        <a:rPr sz="1050" b="1" spc="18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50" b="1" spc="2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배송차량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마스터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803275" marR="542925" lvl="2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배송기사는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등록된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직원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정보를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불러와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해임즈</a:t>
                      </a:r>
                      <a:r>
                        <a:rPr sz="1000" b="0" spc="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를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연결해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등록하며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관제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업체의</a:t>
                      </a:r>
                      <a:r>
                        <a:rPr sz="1000" b="0" spc="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GPS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와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5" dirty="0">
                          <a:latin typeface="Adobe Gothic Std L"/>
                          <a:cs typeface="Adobe Gothic Std L"/>
                        </a:rPr>
                        <a:t>매칭하는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기능을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둠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337185" lvl="2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Char char="-"/>
                        <a:tabLst>
                          <a:tab pos="803275" algn="l"/>
                        </a:tabLst>
                      </a:pPr>
                      <a:r>
                        <a:rPr sz="1000" spc="90" dirty="0">
                          <a:latin typeface="Trebuchet MS"/>
                          <a:cs typeface="Trebuchet MS"/>
                        </a:rPr>
                        <a:t>GPS</a:t>
                      </a:r>
                      <a:r>
                        <a:rPr sz="100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장치를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기사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휴대폰에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심을지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차량에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부착할지는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미확정이며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현행은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차량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부착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방식임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기사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차량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양쪽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모두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등록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가능하도록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화면을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구성함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276225" lvl="2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차량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유형은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50" dirty="0">
                          <a:latin typeface="Adobe Gothic Std L"/>
                          <a:cs typeface="Adobe Gothic Std L"/>
                        </a:rPr>
                        <a:t>오토바이</a:t>
                      </a:r>
                      <a:r>
                        <a:rPr sz="1000" b="0" spc="-3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195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톤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dirty="0">
                          <a:latin typeface="Adobe Gothic Std L"/>
                          <a:cs typeface="Adobe Gothic Std L"/>
                        </a:rPr>
                        <a:t>이하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195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톤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dirty="0">
                          <a:latin typeface="Adobe Gothic Std L"/>
                          <a:cs typeface="Adobe Gothic Std L"/>
                        </a:rPr>
                        <a:t>초과</a:t>
                      </a:r>
                      <a:r>
                        <a:rPr sz="1000" b="0" spc="-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0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기타로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구분하고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자차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용차를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등록하되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대리점의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5" dirty="0">
                          <a:latin typeface="Adobe Gothic Std L"/>
                          <a:cs typeface="Adobe Gothic Std L"/>
                        </a:rPr>
                        <a:t>용차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사용은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거의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없음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2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2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기사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상태는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50" dirty="0">
                          <a:latin typeface="Adobe Gothic Std L"/>
                          <a:cs typeface="Adobe Gothic Std L"/>
                        </a:rPr>
                        <a:t>출발대기</a:t>
                      </a:r>
                      <a:r>
                        <a:rPr sz="1000" b="0" spc="-3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대기중</a:t>
                      </a:r>
                      <a:r>
                        <a:rPr sz="1000" b="0" spc="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배송중으로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관리하며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월별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건수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등은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집계성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정보로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제공함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lvl="1" indent="-227329">
                        <a:lnSpc>
                          <a:spcPct val="100000"/>
                        </a:lnSpc>
                        <a:spcBef>
                          <a:spcPts val="935"/>
                        </a:spcBef>
                        <a:buFont typeface="Trebuchet MS"/>
                        <a:buAutoNum type="arabicParenR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배송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지시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대상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조회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803275" marR="266065" lvl="2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키값은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주문번호이며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주문증표가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출력된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건만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대상이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실무에서는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당일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출력분을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조회해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지역별로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묶어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지시할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것으로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 err="1">
                          <a:latin typeface="Adobe Gothic Std L"/>
                          <a:cs typeface="Adobe Gothic Std L"/>
                        </a:rPr>
                        <a:t>예상됨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en-US" sz="1000" spc="-50" dirty="0">
                        <a:latin typeface="Trebuchet MS"/>
                        <a:cs typeface="Trebuchet MS"/>
                      </a:endParaRPr>
                    </a:p>
                    <a:p>
                      <a:pPr marL="803275" marR="503555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주문유형으로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대상과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매장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판매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소매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고객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)</a:t>
                      </a:r>
                      <a:r>
                        <a:rPr lang="ko-KR" altLang="en-US"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건을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구분하며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lang="ko-KR" altLang="en-US"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대상이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아닌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유형은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기본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조회에서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제외되도록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설정함</a:t>
                      </a:r>
                      <a:r>
                        <a:rPr lang="ko-KR" altLang="en-US"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marL="803275" marR="274320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판매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상태는</a:t>
                      </a:r>
                      <a:r>
                        <a:rPr lang="ko-KR" altLang="en-US"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lang="ko-KR" altLang="en-US" sz="1000" b="0" spc="-4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lang="ko-KR" altLang="en-US" sz="10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부분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10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lang="ko-KR" altLang="en-US" sz="1000" b="0" spc="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lang="ko-KR" altLang="en-US" sz="1000" spc="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 err="1">
                          <a:latin typeface="Adobe Gothic Std L"/>
                          <a:cs typeface="Adobe Gothic Std L"/>
                        </a:rPr>
                        <a:t>미판매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세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가지로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표시함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lang="ko-KR" altLang="en-US" sz="1000" spc="1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 err="1">
                          <a:latin typeface="Adobe Gothic Std L"/>
                          <a:cs typeface="Adobe Gothic Std L"/>
                        </a:rPr>
                        <a:t>주문증표에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걸린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부품과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수량이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모두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판매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처리되면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완료임</a:t>
                      </a:r>
                      <a:r>
                        <a:rPr lang="ko-KR" altLang="en-US"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marL="803275" marR="295275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거래처코드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 err="1">
                          <a:latin typeface="Adobe Gothic Std L"/>
                          <a:cs typeface="Adobe Gothic Std L"/>
                        </a:rPr>
                        <a:t>정산처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)</a:t>
                      </a:r>
                      <a:r>
                        <a:rPr lang="ko-KR" altLang="en-US"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와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정비업체코드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 err="1">
                          <a:latin typeface="Adobe Gothic Std L"/>
                          <a:cs typeface="Adobe Gothic Std L"/>
                        </a:rPr>
                        <a:t>배송처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)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를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분리해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표시함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lang="ko-KR" altLang="en-US" sz="1000" spc="2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보험사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건과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같이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정산처와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실제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배송처가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다른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경우가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존재함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marL="803275" marR="266065" lvl="2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3708056" y="10207900"/>
            <a:ext cx="158114" cy="13593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>
                <a:latin typeface="+mn-ea"/>
                <a:ea typeface="+mn-ea"/>
              </a:rPr>
              <a:t>1</a:t>
            </a:fld>
            <a:endParaRPr spc="4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377606"/>
              </p:ext>
            </p:extLst>
          </p:nvPr>
        </p:nvGraphicFramePr>
        <p:xfrm>
          <a:off x="379076" y="378000"/>
          <a:ext cx="6793865" cy="946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10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내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spc="-50" dirty="0">
                          <a:latin typeface="Adobe Clean Han ExtraBold"/>
                          <a:cs typeface="Adobe Clean Han ExtraBold"/>
                        </a:rPr>
                        <a:t>용</a:t>
                      </a:r>
                      <a:endParaRPr sz="11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223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99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1015"/>
                        </a:spcBef>
                        <a:buFont typeface="Trebuchet MS"/>
                        <a:buAutoNum type="arabicParenR" startAt="4"/>
                        <a:tabLst>
                          <a:tab pos="664210" algn="l"/>
                        </a:tabLst>
                      </a:pPr>
                      <a:r>
                        <a:rPr sz="1050" b="1" spc="-10" dirty="0" err="1">
                          <a:latin typeface="Adobe Clean Han ExtraBold"/>
                          <a:cs typeface="Adobe Clean Han ExtraBold"/>
                        </a:rPr>
                        <a:t>지시번호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상세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및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배송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순서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803275" marR="354330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부분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건을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지시하면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배송유형이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픽업배송으로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설정됨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경로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중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누락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부품을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수령해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전달한다는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의미임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431165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정비업체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배송처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)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기준으로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그룹핑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정렬하며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순서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변경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같은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배송처에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묶인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라인이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5" dirty="0">
                          <a:latin typeface="Adobe Gothic Std L"/>
                          <a:cs typeface="Adobe Gothic Std L"/>
                        </a:rPr>
                        <a:t>함께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이동해야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대리점은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배송노선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개념이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없어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지시자가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배송처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순서를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직접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지정하며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순서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변경은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처리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직전까지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가능함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화면에서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증표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추가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삭제와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기사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변경을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수행하며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이후에는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추가할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없음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도착은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건별과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일괄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처리를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모두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지원하고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실제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작업이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이루어지지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않은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강제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종료로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종결함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33095" indent="-196215">
                        <a:lnSpc>
                          <a:spcPct val="100000"/>
                        </a:lnSpc>
                        <a:spcBef>
                          <a:spcPts val="935"/>
                        </a:spcBef>
                        <a:buAutoNum type="arabicParenR" startAt="4"/>
                        <a:tabLst>
                          <a:tab pos="633095" algn="l"/>
                        </a:tabLst>
                      </a:pPr>
                      <a:r>
                        <a:rPr sz="1050" b="1" spc="155" dirty="0">
                          <a:latin typeface="Trebuchet MS"/>
                          <a:cs typeface="Trebuchet MS"/>
                        </a:rPr>
                        <a:t>PDA</a:t>
                      </a:r>
                      <a:r>
                        <a:rPr sz="1050" b="1" spc="3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배송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처리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803275" marR="531495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Char char="-"/>
                        <a:tabLst>
                          <a:tab pos="803275" algn="l"/>
                        </a:tabLst>
                      </a:pPr>
                      <a:r>
                        <a:rPr sz="1000" spc="80" dirty="0">
                          <a:latin typeface="Trebuchet MS"/>
                          <a:cs typeface="Trebuchet MS"/>
                        </a:rPr>
                        <a:t>PDA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는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추가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도착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등록의</a:t>
                      </a:r>
                      <a:r>
                        <a:rPr sz="1000" b="0" spc="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화면으로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구성하며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40" dirty="0">
                          <a:latin typeface="Adobe Gothic Std L"/>
                          <a:cs typeface="Adobe Gothic Std L"/>
                        </a:rPr>
                        <a:t>작업자</a:t>
                      </a:r>
                      <a:r>
                        <a:rPr sz="1000" b="0" spc="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는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로그인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값으로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고정함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400050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화면에는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지시번호별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거래처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주문증표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건수를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표시하고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추가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또는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신규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생성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화면으로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진입함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추가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화면에서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바코드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스캔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또는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직접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입력으로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주문증표를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지시번호에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계속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매칭할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있음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443230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처리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지시번호에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매칭된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건이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일괄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상태로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전환되며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모바일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해임즈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사용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정비업체에는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알림 메시지를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발송함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기사는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35" dirty="0">
                          <a:latin typeface="Adobe Gothic Std L"/>
                          <a:cs typeface="Adobe Gothic Std L"/>
                        </a:rPr>
                        <a:t>윈도우</a:t>
                      </a:r>
                      <a:r>
                        <a:rPr sz="1000" b="0" spc="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PDA,</a:t>
                      </a:r>
                      <a:r>
                        <a:rPr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60" dirty="0">
                          <a:latin typeface="Adobe Gothic Std L"/>
                          <a:cs typeface="Adobe Gothic Std L"/>
                        </a:rPr>
                        <a:t>안드로이드</a:t>
                      </a:r>
                      <a:r>
                        <a:rPr sz="1000" b="0" spc="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PDA(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개인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휴대폰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),</a:t>
                      </a:r>
                      <a:r>
                        <a:rPr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모바일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해임즈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중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어느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경로로도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작업할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있음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buFont typeface="Trebuchet MS"/>
                        <a:buAutoNum type="arabicParenR" startAt="4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오배송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처리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  <a:buFont typeface="Trebuchet MS"/>
                        <a:buAutoNum type="arabicParenR" startAt="4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오배송은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증표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단위로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선택해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등록하며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판매증표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취소나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재고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반영은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수행하지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않고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리스트로만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관리함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부품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하나에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판매증표가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여러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건인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경우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첫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증표부터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오배송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수량만큼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순서대로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자동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배분함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등록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내역을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조회하고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처리하는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별도로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필요하며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미수령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유사한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구조로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검토함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현장에서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오배송을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즉시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인지하기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어려워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등록률에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대한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우려가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제기됨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940"/>
                        </a:spcBef>
                        <a:buFont typeface="Trebuchet MS"/>
                        <a:buAutoNum type="arabicParenR" startAt="4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지원센터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배송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 marL="803275" marR="445134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지원센터는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번에</a:t>
                      </a:r>
                      <a:r>
                        <a:rPr sz="1000" b="0" spc="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140" dirty="0">
                          <a:latin typeface="Trebuchet MS"/>
                          <a:cs typeface="Trebuchet MS"/>
                        </a:rPr>
                        <a:t>20~30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대리점으로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배송하고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증표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물량이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많아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증표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단위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방식이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맞지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않으므로 배송노선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단위로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 err="1">
                          <a:latin typeface="Adobe Gothic Std L"/>
                          <a:cs typeface="Adobe Gothic Std L"/>
                        </a:rPr>
                        <a:t>지시함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en-US" sz="1000" spc="-50" dirty="0">
                        <a:latin typeface="Trebuchet MS"/>
                        <a:cs typeface="Trebuchet MS"/>
                      </a:endParaRPr>
                    </a:p>
                    <a:p>
                      <a:pPr marL="803275" marR="440055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배송노선을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불러오면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매칭된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대리점과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배송지시가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찍히지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않은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 err="1">
                          <a:latin typeface="Adobe Gothic Std L"/>
                          <a:cs typeface="Adobe Gothic Std L"/>
                        </a:rPr>
                        <a:t>판매증표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건수가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집계되어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표시되고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lang="ko-KR" altLang="en-US" sz="1000" spc="2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일괄로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lang="ko-KR" altLang="en-US"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lang="ko-KR" altLang="en-US"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도착을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처리함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lang="ko-KR" altLang="en-US" sz="100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증표를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개별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선택하거나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일부를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제외하는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기능은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두지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않음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lang="ko-KR" altLang="en-US"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관리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부담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대비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실효성이</a:t>
                      </a:r>
                      <a:r>
                        <a:rPr lang="ko-KR" altLang="en-US"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낮다고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판단함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lang="ko-KR" altLang="en-US" sz="100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대리점은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지원센터가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처리한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일자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lang="ko-KR" altLang="en-US" sz="1000" spc="2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증표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건수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lang="ko-KR" altLang="en-US" sz="1000" spc="2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시작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lang="ko-KR" altLang="en-US"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정보를</a:t>
                      </a:r>
                      <a:r>
                        <a:rPr lang="ko-KR" altLang="en-US"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역으로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조회할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있음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lang="ko-KR" altLang="en-US" sz="100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실제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수령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시점과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정보가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일치하지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않을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lang="ko-KR" altLang="en-US"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도착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여부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수준의</a:t>
                      </a:r>
                      <a:r>
                        <a:rPr lang="ko-KR" altLang="en-US"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관리로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한정함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marL="803275" marR="445134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2</a:t>
            </a:fld>
            <a:endParaRPr spc="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44132"/>
              </p:ext>
            </p:extLst>
          </p:nvPr>
        </p:nvGraphicFramePr>
        <p:xfrm>
          <a:off x="379076" y="379448"/>
          <a:ext cx="6793865" cy="969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10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내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spc="-50" dirty="0">
                          <a:latin typeface="Adobe Clean Han ExtraBold"/>
                          <a:cs typeface="Adobe Clean Han ExtraBold"/>
                        </a:rPr>
                        <a:t>용</a:t>
                      </a:r>
                      <a:endParaRPr sz="11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223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9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940"/>
                        </a:spcBef>
                        <a:buFont typeface="Trebuchet MS"/>
                        <a:buAutoNum type="arabicParenR" startAt="8"/>
                        <a:tabLst>
                          <a:tab pos="664210" algn="l"/>
                        </a:tabLst>
                      </a:pPr>
                      <a:r>
                        <a:rPr sz="1050" b="1" spc="-10" dirty="0" err="1">
                          <a:latin typeface="Adobe Clean Han ExtraBold"/>
                          <a:cs typeface="Adobe Clean Han ExtraBold"/>
                        </a:rPr>
                        <a:t>파렛트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개요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및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물류이동증표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 startAt="8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파렛트는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모비스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자산으로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등록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관리하는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용기이며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입고</a:t>
                      </a:r>
                      <a:r>
                        <a:rPr sz="1000" b="0" spc="-4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보관</a:t>
                      </a:r>
                      <a:r>
                        <a:rPr sz="1000" b="0" spc="7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출고</a:t>
                      </a:r>
                      <a:r>
                        <a:rPr sz="1000" b="0" spc="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재물조사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단계로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운영됨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부품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입고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화면의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케이스번호로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파렛트에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담긴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품목을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조회할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있으나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부품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입고와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입고는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25" dirty="0">
                          <a:latin typeface="Adobe Gothic Std L"/>
                          <a:cs typeface="Adobe Gothic Std L"/>
                        </a:rPr>
                        <a:t>별개의</a:t>
                      </a:r>
                      <a:endParaRPr sz="1000" dirty="0">
                        <a:latin typeface="Adobe Gothic Std L"/>
                        <a:cs typeface="Adobe Gothic Std L"/>
                      </a:endParaRPr>
                    </a:p>
                    <a:p>
                      <a:pPr marL="8032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절차임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이동은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물류이동증표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단위로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이루어짐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증표를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생성하고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파렛트를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매칭한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뒤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저장하면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발송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처리됨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증표번호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앞자리로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발행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주체를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구분함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대리점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60" dirty="0">
                          <a:latin typeface="Adobe Gothic Std L"/>
                          <a:cs typeface="Adobe Gothic Std L"/>
                        </a:rPr>
                        <a:t>지원센터는</a:t>
                      </a:r>
                      <a:r>
                        <a:rPr sz="1000" b="0" spc="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AGT,</a:t>
                      </a:r>
                      <a:r>
                        <a:rPr sz="1000" spc="2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60" dirty="0">
                          <a:latin typeface="Adobe Gothic Std L"/>
                          <a:cs typeface="Adobe Gothic Std L"/>
                        </a:rPr>
                        <a:t>협력업체는</a:t>
                      </a:r>
                      <a:r>
                        <a:rPr sz="1000" b="0" spc="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55" dirty="0">
                          <a:latin typeface="Trebuchet MS"/>
                          <a:cs typeface="Trebuchet MS"/>
                        </a:rPr>
                        <a:t>VEN,</a:t>
                      </a:r>
                      <a:r>
                        <a:rPr sz="1000" spc="2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모비스는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사업소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물류센터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코드가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부여됨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입고는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자신에게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발송된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물류이동증표를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조회해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처리하면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매칭된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파렛트가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입고됨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5481" indent="-228600">
                        <a:lnSpc>
                          <a:spcPct val="100000"/>
                        </a:lnSpc>
                        <a:spcBef>
                          <a:spcPts val="935"/>
                        </a:spcBef>
                        <a:buFont typeface="+mj-lt"/>
                        <a:buAutoNum type="arabicParenR" startAt="9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차량이동증표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및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파렛트</a:t>
                      </a:r>
                      <a:r>
                        <a:rPr sz="1050" b="1" spc="-4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부가</a:t>
                      </a:r>
                      <a:r>
                        <a:rPr sz="1050" b="1" spc="-4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25" dirty="0">
                          <a:latin typeface="Adobe Clean Han ExtraBold"/>
                          <a:cs typeface="Adobe Clean Han ExtraBold"/>
                        </a:rPr>
                        <a:t>화면</a:t>
                      </a:r>
                      <a:endParaRPr sz="1050" dirty="0">
                        <a:latin typeface="Adobe Clean Han ExtraBold"/>
                        <a:cs typeface="Adobe Clean Han ExtraBold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 startAt="9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용차를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사용한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경우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비용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정산을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위해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차량이동증표를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추가로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발행해야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하나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현장에서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누락되는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사례가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많음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405130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사용료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유형별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번호별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보유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현황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일별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마감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이동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이력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재물조사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조정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등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30" dirty="0">
                          <a:latin typeface="Adobe Gothic Std L"/>
                          <a:cs typeface="Adobe Gothic Std L"/>
                        </a:rPr>
                        <a:t>화면이</a:t>
                      </a:r>
                      <a:r>
                        <a:rPr sz="1000" b="0" spc="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100" dirty="0">
                          <a:latin typeface="Trebuchet MS"/>
                          <a:cs typeface="Trebuchet MS"/>
                        </a:rPr>
                        <a:t>16</a:t>
                      </a:r>
                      <a:r>
                        <a:rPr sz="1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50" dirty="0">
                          <a:latin typeface="Adobe Gothic Std L"/>
                          <a:cs typeface="Adobe Gothic Std L"/>
                        </a:rPr>
                        <a:t>개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이상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존재함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조정은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전산상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소속이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다른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파렛트를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자기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소속으로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변경할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사용하며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조정코드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종류가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다양함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관련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대부분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엔스마트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화면과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로직을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그대로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사용하므로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이번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과제에서의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변경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범위는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크지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않음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478155" indent="-242570">
                        <a:lnSpc>
                          <a:spcPct val="100000"/>
                        </a:lnSpc>
                        <a:buFont typeface="Trebuchet MS"/>
                        <a:buAutoNum type="arabicPeriod" startAt="2"/>
                        <a:tabLst>
                          <a:tab pos="478155" algn="l"/>
                        </a:tabLst>
                      </a:pPr>
                      <a:r>
                        <a:rPr lang="ko-KR" altLang="en-US" sz="1150" b="1" dirty="0">
                          <a:latin typeface="Adobe Clean Han ExtraBold"/>
                          <a:cs typeface="Adobe Clean Han ExtraBold"/>
                        </a:rPr>
                        <a:t>검토</a:t>
                      </a:r>
                      <a:r>
                        <a:rPr sz="1150" b="1" spc="-7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50" b="1" spc="-7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50" b="1" spc="-25" dirty="0">
                          <a:latin typeface="Adobe Clean Han ExtraBold"/>
                          <a:cs typeface="Adobe Clean Han ExtraBold"/>
                        </a:rPr>
                        <a:t>사항</a:t>
                      </a:r>
                      <a:endParaRPr sz="1150" dirty="0">
                        <a:latin typeface="Adobe Clean Han ExtraBold"/>
                        <a:cs typeface="Adobe Clean Han ExtraBold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  <a:buFont typeface="Trebuchet MS"/>
                        <a:buAutoNum type="arabicPeriod" startAt="2"/>
                      </a:pPr>
                      <a:endParaRPr sz="1150" dirty="0">
                        <a:latin typeface="Times New Roman"/>
                        <a:cs typeface="Times New Roman"/>
                      </a:endParaRPr>
                    </a:p>
                    <a:p>
                      <a:pPr marL="664210" lvl="1" indent="-227329">
                        <a:lnSpc>
                          <a:spcPct val="100000"/>
                        </a:lnSpc>
                        <a:buFont typeface="Trebuchet MS"/>
                        <a:buAutoNum type="arabicParenR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동일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아이템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분할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배송</a:t>
                      </a:r>
                      <a:r>
                        <a:rPr lang="ko-KR" altLang="en-US" sz="1050" b="1" spc="204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lang="ko-KR" altLang="en-US" sz="105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/>
                      </a:pPr>
                      <a:endParaRPr lang="ko-KR" altLang="en-US"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2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 err="1">
                          <a:latin typeface="Adobe Gothic Std L"/>
                          <a:cs typeface="Adobe Gothic Std L"/>
                        </a:rPr>
                        <a:t>하나의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주문증표에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대한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30" dirty="0">
                          <a:latin typeface="Adobe Gothic Std L"/>
                          <a:cs typeface="Adobe Gothic Std L"/>
                        </a:rPr>
                        <a:t>지시는</a:t>
                      </a:r>
                      <a:r>
                        <a:rPr sz="1000" b="0" spc="4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회만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가능하며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동일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부품을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나누어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배송하는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개념은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두지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않음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2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2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분할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배송이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필요하면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주문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수량을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변경하고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주문번호를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다시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채번하는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방식으로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운영함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2"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2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여부는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판매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테이블이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아니라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주문번호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페이지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단위로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판정하며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검수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판정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기준과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동일한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구조임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2">
                        <a:lnSpc>
                          <a:spcPct val="100000"/>
                        </a:lnSpc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64210" lvl="1" indent="-227329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AutoNum type="arabicParenR"/>
                        <a:tabLst>
                          <a:tab pos="664210" algn="l"/>
                        </a:tabLst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거래처</a:t>
                      </a:r>
                      <a:r>
                        <a:rPr sz="1050" b="1" spc="17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50" b="1" spc="2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배송처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코드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분리</a:t>
                      </a:r>
                      <a:r>
                        <a:rPr sz="1050" b="1" spc="19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 marL="803275" marR="497205" lvl="2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보험사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건처럼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정산처와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배송처가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다른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경우가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주문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접수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배송처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0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정비업체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)</a:t>
                      </a:r>
                      <a:r>
                        <a:rPr sz="1000" spc="2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코드를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별도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항목으로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입력받아야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2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2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 err="1">
                          <a:latin typeface="Adobe Gothic Std L"/>
                          <a:cs typeface="Adobe Gothic Std L"/>
                        </a:rPr>
                        <a:t>현재는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 err="1">
                          <a:latin typeface="Adobe Gothic Std L"/>
                          <a:cs typeface="Adobe Gothic Std L"/>
                        </a:rPr>
                        <a:t>비고란에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 err="1">
                          <a:latin typeface="Adobe Gothic Std L"/>
                          <a:cs typeface="Adobe Gothic Std L"/>
                        </a:rPr>
                        <a:t>수기로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 err="1">
                          <a:latin typeface="Adobe Gothic Std L"/>
                          <a:cs typeface="Adobe Gothic Std L"/>
                        </a:rPr>
                        <a:t>적고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 err="1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lang="en-US"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 err="1">
                          <a:latin typeface="Adobe Gothic Std L"/>
                          <a:cs typeface="Adobe Gothic Std L"/>
                        </a:rPr>
                        <a:t>구분값이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 err="1">
                          <a:latin typeface="Adobe Gothic Std L"/>
                          <a:cs typeface="Adobe Gothic Std L"/>
                        </a:rPr>
                        <a:t>없으므로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 err="1">
                          <a:latin typeface="Adobe Gothic Std L"/>
                          <a:cs typeface="Adobe Gothic Std L"/>
                        </a:rPr>
                        <a:t>주문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 err="1">
                          <a:latin typeface="Adobe Gothic Std L"/>
                          <a:cs typeface="Adobe Gothic Std L"/>
                        </a:rPr>
                        <a:t>접수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 err="1">
                          <a:latin typeface="Adobe Gothic Std L"/>
                          <a:cs typeface="Adobe Gothic Std L"/>
                        </a:rPr>
                        <a:t>담당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 err="1">
                          <a:latin typeface="Adobe Gothic Std L"/>
                          <a:cs typeface="Adobe Gothic Std L"/>
                        </a:rPr>
                        <a:t>조직과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 err="1">
                          <a:latin typeface="Adobe Gothic Std L"/>
                          <a:cs typeface="Adobe Gothic Std L"/>
                        </a:rPr>
                        <a:t>협의가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 err="1">
                          <a:latin typeface="Adobe Gothic Std L"/>
                          <a:cs typeface="Adobe Gothic Std L"/>
                        </a:rPr>
                        <a:t>필요함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en-US" sz="1000" spc="-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lang="ko-KR" altLang="en-US" sz="1050" dirty="0">
                        <a:latin typeface="Times New Roman"/>
                        <a:cs typeface="Times New Roman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AutoNum type="arabicParenR" startAt="3"/>
                        <a:tabLst>
                          <a:tab pos="664210" algn="l"/>
                        </a:tabLst>
                      </a:pPr>
                      <a:r>
                        <a:rPr lang="ko-KR" altLang="en-US" sz="1050" b="1" spc="-10" dirty="0">
                          <a:latin typeface="Adobe Clean Han ExtraBold"/>
                          <a:cs typeface="Adobe Clean Han ExtraBold"/>
                        </a:rPr>
                        <a:t>배송지시</a:t>
                      </a:r>
                      <a:r>
                        <a:rPr lang="ko-KR" altLang="en-US"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lang="ko-KR" altLang="en-US" sz="1050" b="1" spc="-10" dirty="0">
                          <a:latin typeface="Adobe Clean Han ExtraBold"/>
                          <a:cs typeface="Adobe Clean Han ExtraBold"/>
                        </a:rPr>
                        <a:t>테이블</a:t>
                      </a:r>
                      <a:r>
                        <a:rPr lang="ko-KR" altLang="en-US"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lang="ko-KR" altLang="en-US" sz="1050" b="1" dirty="0">
                          <a:latin typeface="Adobe Clean Han ExtraBold"/>
                          <a:cs typeface="Adobe Clean Han ExtraBold"/>
                        </a:rPr>
                        <a:t>신설</a:t>
                      </a:r>
                      <a:r>
                        <a:rPr lang="ko-KR" altLang="en-US"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lang="ko-KR" altLang="en-US" sz="1050" b="1" dirty="0">
                          <a:latin typeface="Adobe Clean Han ExtraBold"/>
                          <a:cs typeface="Adobe Clean Han ExtraBold"/>
                        </a:rPr>
                        <a:t>여부</a:t>
                      </a:r>
                      <a:r>
                        <a:rPr lang="ko-KR" altLang="en-US" sz="1050" b="1" spc="21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lang="ko-KR" altLang="en-US"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Trebuchet MS"/>
                        <a:buAutoNum type="arabicParenR" startAt="3"/>
                      </a:pPr>
                      <a:endParaRPr lang="ko-KR" altLang="en-US"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지시번호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테이블을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별도로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두자는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의견과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판매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데이터를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실시간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조회하면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충분하다는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의견이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제시됨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lang="ko-KR" altLang="en-US"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시점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값으로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고정할지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실시간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값을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표시할지도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결정해야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하므로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설계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단계에서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재검토하기로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함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marL="803275" lvl="2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3</a:t>
            </a:fld>
            <a:endParaRPr spc="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37769"/>
              </p:ext>
            </p:extLst>
          </p:nvPr>
        </p:nvGraphicFramePr>
        <p:xfrm>
          <a:off x="379076" y="379448"/>
          <a:ext cx="6793865" cy="969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10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내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spc="-50" dirty="0">
                          <a:latin typeface="Adobe Clean Han ExtraBold"/>
                          <a:cs typeface="Adobe Clean Han ExtraBold"/>
                        </a:rPr>
                        <a:t>용</a:t>
                      </a:r>
                      <a:endParaRPr sz="11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223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9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AutoNum type="arabicParenR" startAt="3"/>
                        <a:tabLst>
                          <a:tab pos="664210" algn="l"/>
                        </a:tabLst>
                      </a:pPr>
                      <a:r>
                        <a:rPr lang="ko-KR" altLang="en-US" sz="1050" b="1" spc="-10" dirty="0">
                          <a:latin typeface="Adobe Clean Han ExtraBold"/>
                          <a:cs typeface="Adobe Clean Han ExtraBold"/>
                        </a:rPr>
                        <a:t>배송지시</a:t>
                      </a:r>
                      <a:r>
                        <a:rPr lang="ko-KR" altLang="en-US"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lang="ko-KR" altLang="en-US" sz="1050" b="1" spc="-10" dirty="0">
                          <a:latin typeface="Adobe Clean Han ExtraBold"/>
                          <a:cs typeface="Adobe Clean Han ExtraBold"/>
                        </a:rPr>
                        <a:t>테이블</a:t>
                      </a:r>
                      <a:r>
                        <a:rPr lang="ko-KR" altLang="en-US"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lang="ko-KR" altLang="en-US" sz="1050" b="1" dirty="0">
                          <a:latin typeface="Adobe Clean Han ExtraBold"/>
                          <a:cs typeface="Adobe Clean Han ExtraBold"/>
                        </a:rPr>
                        <a:t>신설</a:t>
                      </a:r>
                      <a:r>
                        <a:rPr lang="ko-KR" altLang="en-US"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lang="ko-KR" altLang="en-US" sz="1050" b="1" dirty="0">
                          <a:latin typeface="Adobe Clean Han ExtraBold"/>
                          <a:cs typeface="Adobe Clean Han ExtraBold"/>
                        </a:rPr>
                        <a:t>여부</a:t>
                      </a:r>
                      <a:r>
                        <a:rPr lang="ko-KR" altLang="en-US" sz="1050" b="1" spc="21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lang="ko-KR" altLang="en-US"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Trebuchet MS"/>
                        <a:buAutoNum type="arabicParenR" startAt="3"/>
                      </a:pPr>
                      <a:endParaRPr lang="ko-KR" altLang="en-US"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지시번호</a:t>
                      </a:r>
                      <a:r>
                        <a:rPr lang="ko-KR" altLang="en-US"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테이블을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별도로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두자는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의견과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판매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데이터를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실시간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조회하면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충분하다는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의견이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제시됨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lang="ko-KR" altLang="en-US"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시점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값으로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고정할지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0" dirty="0">
                          <a:latin typeface="Adobe Gothic Std L"/>
                          <a:cs typeface="Adobe Gothic Std L"/>
                        </a:rPr>
                        <a:t>실시간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값을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표시할지도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결정해야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하므로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설계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5" dirty="0">
                          <a:latin typeface="Adobe Gothic Std L"/>
                          <a:cs typeface="Adobe Gothic Std L"/>
                        </a:rPr>
                        <a:t>단계에서</a:t>
                      </a:r>
                      <a:r>
                        <a:rPr lang="ko-KR" altLang="en-US"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95" dirty="0">
                          <a:latin typeface="Adobe Gothic Std L"/>
                          <a:cs typeface="Adobe Gothic Std L"/>
                        </a:rPr>
                        <a:t>재검토하기로</a:t>
                      </a:r>
                      <a:r>
                        <a:rPr lang="ko-KR" altLang="en-US"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lang="ko-KR" altLang="en-US" sz="1000" b="0" spc="-80" dirty="0">
                          <a:latin typeface="Adobe Gothic Std L"/>
                          <a:cs typeface="Adobe Gothic Std L"/>
                        </a:rPr>
                        <a:t>함 </a:t>
                      </a:r>
                      <a:r>
                        <a:rPr lang="en-US" altLang="ko-KR"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lang="ko-KR" altLang="en-US" sz="1000" dirty="0">
                        <a:latin typeface="Trebuchet MS"/>
                        <a:cs typeface="Trebuchet MS"/>
                      </a:endParaRPr>
                    </a:p>
                    <a:p>
                      <a:pPr marL="633095" indent="-196215">
                        <a:lnSpc>
                          <a:spcPct val="100000"/>
                        </a:lnSpc>
                        <a:spcBef>
                          <a:spcPts val="940"/>
                        </a:spcBef>
                        <a:buAutoNum type="arabicParenR" startAt="3"/>
                        <a:tabLst>
                          <a:tab pos="633095" algn="l"/>
                        </a:tabLst>
                      </a:pPr>
                      <a:r>
                        <a:rPr sz="1050" b="1" spc="155" dirty="0">
                          <a:latin typeface="Trebuchet MS"/>
                          <a:cs typeface="Trebuchet MS"/>
                        </a:rPr>
                        <a:t>PDA</a:t>
                      </a:r>
                      <a:r>
                        <a:rPr sz="1050" b="1" spc="2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지시번호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채번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시점</a:t>
                      </a:r>
                      <a:r>
                        <a:rPr sz="1050" b="1" spc="204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 startAt="3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생성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버튼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진입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시가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아니라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저장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시점에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지시번호를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채번함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sz="10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미리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채번하면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번호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보관과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미사용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건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25" dirty="0">
                          <a:latin typeface="Adobe Gothic Std L"/>
                          <a:cs typeface="Adobe Gothic Std L"/>
                        </a:rPr>
                        <a:t>관리가</a:t>
                      </a:r>
                      <a:endParaRPr sz="1000" dirty="0">
                        <a:latin typeface="Adobe Gothic Std L"/>
                        <a:cs typeface="Adobe Gothic Std L"/>
                      </a:endParaRPr>
                    </a:p>
                    <a:p>
                      <a:pPr marL="8032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애매해짐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증표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스캔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시점과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저장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시점에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각각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중복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여부를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검증하고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이미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지시된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건은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제외한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뒤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메시지로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안내함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65481" indent="-228600">
                        <a:lnSpc>
                          <a:spcPct val="100000"/>
                        </a:lnSpc>
                        <a:buFont typeface="+mj-lt"/>
                        <a:buAutoNum type="arabicParenR" startAt="5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픽업배송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표시</a:t>
                      </a:r>
                      <a:r>
                        <a:rPr sz="1050" b="1" spc="19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Trebuchet MS"/>
                        <a:buAutoNum type="arabicParenR" startAt="5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픽업배송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건은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뒤쪽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컬럼에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있으면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놓치기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쉬우므로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해당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라인의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색상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또는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글자색을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변경해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강조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표시함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935"/>
                        </a:spcBef>
                        <a:buFont typeface="Trebuchet MS"/>
                        <a:buAutoNum type="arabicParenR" startAt="5"/>
                        <a:tabLst>
                          <a:tab pos="664210" algn="l"/>
                        </a:tabLst>
                      </a:pP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출발</a:t>
                      </a:r>
                      <a:r>
                        <a:rPr sz="1050" b="1" spc="17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50" b="1" spc="2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도착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선택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기준</a:t>
                      </a:r>
                      <a:r>
                        <a:rPr sz="1050" b="1" spc="204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 startAt="5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출발은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선택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여부와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무관하게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지시번호에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담긴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건을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일괄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처리하는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것으로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정리함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441959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도착은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일부만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처리해야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하는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경우가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선택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기준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정의가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필요하며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5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지정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순서와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다르게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도착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처리할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5" dirty="0">
                          <a:latin typeface="Adobe Gothic Std L"/>
                          <a:cs typeface="Adobe Gothic Std L"/>
                        </a:rPr>
                        <a:t>때는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확인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팝업만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표시함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1010"/>
                        </a:spcBef>
                        <a:buFont typeface="Trebuchet MS"/>
                        <a:buAutoNum type="arabicParenR" startAt="5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오배송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관리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수준</a:t>
                      </a:r>
                      <a:r>
                        <a:rPr sz="1050" b="1" spc="20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 startAt="5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반품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재고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조정까지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연계하면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관리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범위가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과도해지므로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등록</a:t>
                      </a:r>
                      <a:r>
                        <a:rPr sz="1000" b="0" spc="-4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완료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처리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수준으로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한정하기로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41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실제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반품이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필요한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경우의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후속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화면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연계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여부는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추가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검토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대상임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940"/>
                        </a:spcBef>
                        <a:buFont typeface="Trebuchet MS"/>
                        <a:buAutoNum type="arabicParenR" startAt="5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화면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구성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방식</a:t>
                      </a:r>
                      <a:r>
                        <a:rPr sz="1050" b="1" spc="20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Trebuchet MS"/>
                        <a:buAutoNum type="arabicParenR" startAt="5"/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기사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차량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관리는</a:t>
                      </a:r>
                      <a:r>
                        <a:rPr sz="1000" b="0" spc="-13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탭으로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묶지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않고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메뉴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트리에서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분리해도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무방하며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프레임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표준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수립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정리함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화면에도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3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버튼을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두어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상세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화면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양쪽에서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출발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처리할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있도록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664210" indent="-227329">
                        <a:lnSpc>
                          <a:spcPct val="100000"/>
                        </a:lnSpc>
                        <a:spcBef>
                          <a:spcPts val="935"/>
                        </a:spcBef>
                        <a:buFont typeface="Trebuchet MS"/>
                        <a:buAutoNum type="arabicParenR" startAt="5"/>
                        <a:tabLst>
                          <a:tab pos="664210" algn="l"/>
                        </a:tabLst>
                      </a:pP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차량이동증표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연계</a:t>
                      </a:r>
                      <a:r>
                        <a:rPr sz="1050" b="1" spc="20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 marL="803275" marR="601980" lvl="1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물류이동증표에서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넘어올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차량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·</a:t>
                      </a:r>
                      <a:r>
                        <a:rPr sz="1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발송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정보는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자동으로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세팅하되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물류이동증표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번호는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검색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팝업에서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선택해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입력하도록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전량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자동으로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끌어오면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확인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없이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발송될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위험이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조회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선택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방식으로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정리함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lvl="1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용차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선택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차량이동증표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생성을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유도하는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안내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메시지를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추가함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43688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050" b="1" spc="100" dirty="0">
                          <a:latin typeface="Trebuchet MS"/>
                          <a:cs typeface="Trebuchet MS"/>
                        </a:rPr>
                        <a:t>10)</a:t>
                      </a:r>
                      <a:r>
                        <a:rPr sz="1050" b="1" spc="2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파렛트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데이터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소스</a:t>
                      </a:r>
                      <a:r>
                        <a:rPr sz="1050" b="1" spc="-5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확인</a:t>
                      </a:r>
                      <a:r>
                        <a:rPr sz="1050" b="1" spc="21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 marL="803275" marR="382270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관련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테이블이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해임즈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사용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테이블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목록에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없어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엔스마트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테이블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직접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조회인지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인터페이스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연계인지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확인이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필요함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번호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정합성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체크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로직이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어느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시스템에서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수행되는지도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함께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확인하기로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 marL="803275" marR="320040" indent="-180340">
                        <a:lnSpc>
                          <a:spcPct val="115999"/>
                        </a:lnSpc>
                        <a:spcBef>
                          <a:spcPts val="600"/>
                        </a:spcBef>
                        <a:buChar char="-"/>
                        <a:tabLst>
                          <a:tab pos="803275" algn="l"/>
                        </a:tabLst>
                      </a:pPr>
                      <a:r>
                        <a:rPr sz="1000" spc="80" dirty="0">
                          <a:latin typeface="Trebuchet MS"/>
                          <a:cs typeface="Trebuchet MS"/>
                        </a:rPr>
                        <a:t>PDA</a:t>
                      </a:r>
                      <a:r>
                        <a:rPr sz="1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에서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엔스마트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테이블을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갱신할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있는지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기술</a:t>
                      </a:r>
                      <a:r>
                        <a:rPr sz="1000" b="0" spc="-12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검증이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선행되어야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하며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00" spc="2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불가할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10" dirty="0">
                          <a:latin typeface="Adobe Gothic Std L"/>
                          <a:cs typeface="Adobe Gothic Std L"/>
                        </a:rPr>
                        <a:t>경우</a:t>
                      </a:r>
                      <a:r>
                        <a:rPr sz="1000" b="0" spc="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PDA</a:t>
                      </a:r>
                      <a:r>
                        <a:rPr sz="1000" spc="2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기능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제공이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어려움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4</a:t>
            </a:fld>
            <a:endParaRPr spc="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755" y="2874966"/>
            <a:ext cx="6793865" cy="566420"/>
          </a:xfrm>
          <a:custGeom>
            <a:avLst/>
            <a:gdLst/>
            <a:ahLst/>
            <a:cxnLst/>
            <a:rect l="l" t="t" r="r" b="b"/>
            <a:pathLst>
              <a:path w="6793865" h="566420">
                <a:moveTo>
                  <a:pt x="6793560" y="0"/>
                </a:moveTo>
                <a:lnTo>
                  <a:pt x="0" y="0"/>
                </a:lnTo>
                <a:lnTo>
                  <a:pt x="0" y="292315"/>
                </a:lnTo>
                <a:lnTo>
                  <a:pt x="368" y="292315"/>
                </a:lnTo>
                <a:lnTo>
                  <a:pt x="368" y="566280"/>
                </a:lnTo>
                <a:lnTo>
                  <a:pt x="251637" y="566280"/>
                </a:lnTo>
                <a:lnTo>
                  <a:pt x="502920" y="566280"/>
                </a:lnTo>
                <a:lnTo>
                  <a:pt x="502920" y="292315"/>
                </a:lnTo>
                <a:lnTo>
                  <a:pt x="503288" y="292315"/>
                </a:lnTo>
                <a:lnTo>
                  <a:pt x="503288" y="566280"/>
                </a:lnTo>
                <a:lnTo>
                  <a:pt x="2597048" y="566280"/>
                </a:lnTo>
                <a:lnTo>
                  <a:pt x="4690808" y="566280"/>
                </a:lnTo>
                <a:lnTo>
                  <a:pt x="5376608" y="566280"/>
                </a:lnTo>
                <a:lnTo>
                  <a:pt x="6062040" y="566280"/>
                </a:lnTo>
                <a:lnTo>
                  <a:pt x="6062040" y="292315"/>
                </a:lnTo>
                <a:lnTo>
                  <a:pt x="6062408" y="292315"/>
                </a:lnTo>
                <a:lnTo>
                  <a:pt x="6062408" y="566280"/>
                </a:lnTo>
                <a:lnTo>
                  <a:pt x="6428168" y="566280"/>
                </a:lnTo>
                <a:lnTo>
                  <a:pt x="6793560" y="566280"/>
                </a:lnTo>
                <a:lnTo>
                  <a:pt x="6793560" y="292315"/>
                </a:lnTo>
                <a:lnTo>
                  <a:pt x="679356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41836"/>
              </p:ext>
            </p:extLst>
          </p:nvPr>
        </p:nvGraphicFramePr>
        <p:xfrm>
          <a:off x="379076" y="379448"/>
          <a:ext cx="6793865" cy="3331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100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회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의</a:t>
                      </a:r>
                      <a:r>
                        <a:rPr sz="110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dirty="0">
                          <a:latin typeface="Adobe Clean Han ExtraBold"/>
                          <a:cs typeface="Adobe Clean Han ExtraBold"/>
                        </a:rPr>
                        <a:t>내</a:t>
                      </a:r>
                      <a:r>
                        <a:rPr sz="110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100" b="1" spc="-50" dirty="0">
                          <a:latin typeface="Adobe Clean Han ExtraBold"/>
                          <a:cs typeface="Adobe Clean Han ExtraBold"/>
                        </a:rPr>
                        <a:t>용</a:t>
                      </a:r>
                      <a:endParaRPr sz="110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223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37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36880">
                        <a:lnSpc>
                          <a:spcPct val="100000"/>
                        </a:lnSpc>
                      </a:pPr>
                      <a:r>
                        <a:rPr sz="1050" b="1" spc="100" dirty="0">
                          <a:latin typeface="Trebuchet MS"/>
                          <a:cs typeface="Trebuchet MS"/>
                        </a:rPr>
                        <a:t>11)</a:t>
                      </a:r>
                      <a:r>
                        <a:rPr sz="1050" b="1" spc="2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10" dirty="0">
                          <a:latin typeface="Adobe Clean Han ExtraBold"/>
                          <a:cs typeface="Adobe Clean Han ExtraBold"/>
                        </a:rPr>
                        <a:t>파렛트</a:t>
                      </a:r>
                      <a:r>
                        <a:rPr sz="1050" b="1" spc="-60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>
                          <a:latin typeface="Adobe Clean Han ExtraBold"/>
                          <a:cs typeface="Adobe Clean Han ExtraBold"/>
                        </a:rPr>
                        <a:t>화면</a:t>
                      </a:r>
                      <a:r>
                        <a:rPr sz="1050" b="1" spc="-55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r>
                        <a:rPr sz="1050" b="1" dirty="0" err="1">
                          <a:latin typeface="Adobe Clean Han ExtraBold"/>
                          <a:cs typeface="Adobe Clean Han ExtraBold"/>
                        </a:rPr>
                        <a:t>정리</a:t>
                      </a:r>
                      <a:r>
                        <a:rPr sz="1050" b="1" spc="204" dirty="0">
                          <a:latin typeface="Adobe Clean Han ExtraBold"/>
                          <a:cs typeface="Adobe Clean Han ExtraBold"/>
                        </a:rPr>
                        <a:t> </a:t>
                      </a:r>
                      <a:endParaRPr sz="105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일괄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입고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화면은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파렛트</a:t>
                      </a:r>
                      <a:r>
                        <a:rPr sz="1000" b="0" spc="-12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번호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확인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없이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처리될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우려가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있어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지원센터에는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개별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입고만</a:t>
                      </a:r>
                      <a:r>
                        <a:rPr sz="1000" b="0" spc="-11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제공하는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20" dirty="0">
                          <a:latin typeface="Adobe Gothic Std L"/>
                          <a:cs typeface="Adobe Gothic Std L"/>
                        </a:rPr>
                        <a:t>방향으로</a:t>
                      </a:r>
                      <a:endParaRPr sz="1000" dirty="0">
                        <a:latin typeface="Adobe Gothic Std L"/>
                        <a:cs typeface="Adobe Gothic Std L"/>
                      </a:endParaRPr>
                    </a:p>
                    <a:p>
                      <a:pPr marL="8032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검토함</a:t>
                      </a:r>
                      <a:r>
                        <a:rPr sz="1000" b="0" spc="-7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재물조사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항목은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불량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유형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판단이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어려워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수량</a:t>
                      </a:r>
                      <a:r>
                        <a:rPr sz="1000" b="0" spc="-114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유무만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체크하는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현행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방식을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유지함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  <a:buFont typeface="Trebuchet MS"/>
                        <a:buChar char="-"/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803275" indent="-180340">
                        <a:lnSpc>
                          <a:spcPct val="100000"/>
                        </a:lnSpc>
                        <a:buFont typeface="Trebuchet MS"/>
                        <a:buChar char="-"/>
                        <a:tabLst>
                          <a:tab pos="803275" algn="l"/>
                        </a:tabLst>
                      </a:pP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지원센터가</a:t>
                      </a:r>
                      <a:r>
                        <a:rPr sz="1000" b="0" spc="-10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실제로</a:t>
                      </a:r>
                      <a:r>
                        <a:rPr sz="1000" b="0" spc="-100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사용할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수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있는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조정코드만 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남기도록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b="0" spc="-90" dirty="0">
                          <a:latin typeface="Adobe Gothic Std L"/>
                          <a:cs typeface="Adobe Gothic Std L"/>
                        </a:rPr>
                        <a:t>현업과</a:t>
                      </a:r>
                      <a:r>
                        <a:rPr sz="1000" b="0" spc="-95" dirty="0">
                          <a:latin typeface="Adobe Gothic Std L"/>
                          <a:cs typeface="Adobe Gothic Std L"/>
                        </a:rPr>
                        <a:t> 정리하기로 </a:t>
                      </a:r>
                      <a:r>
                        <a:rPr sz="1000" b="0" spc="-80" dirty="0">
                          <a:latin typeface="Adobe Gothic Std L"/>
                          <a:cs typeface="Adobe Gothic Std L"/>
                        </a:rPr>
                        <a:t>함</a:t>
                      </a:r>
                      <a:r>
                        <a:rPr sz="1000" b="0" spc="-85" dirty="0">
                          <a:latin typeface="Adobe Gothic Std L"/>
                          <a:cs typeface="Adobe Gothic Std L"/>
                        </a:rPr>
                        <a:t> 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 gridSpan="4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spc="100" dirty="0">
                          <a:latin typeface="Trebuchet MS"/>
                          <a:cs typeface="Trebuchet MS"/>
                        </a:rPr>
                        <a:t>Action</a:t>
                      </a:r>
                      <a:r>
                        <a:rPr sz="1100" b="1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b="1" spc="100" dirty="0">
                          <a:latin typeface="Trebuchet MS"/>
                          <a:cs typeface="Trebuchet MS"/>
                        </a:rPr>
                        <a:t>Item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9525">
                      <a:solidFill>
                        <a:srgbClr val="545454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90" dirty="0">
                          <a:solidFill>
                            <a:srgbClr val="666666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6858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666666"/>
                          </a:solidFill>
                          <a:latin typeface="Adobe Clean Han ExtraBold"/>
                          <a:cs typeface="Adobe Clean Han ExtraBold"/>
                        </a:rPr>
                        <a:t>내용</a:t>
                      </a:r>
                      <a:endParaRPr sz="90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666666"/>
                          </a:solidFill>
                          <a:latin typeface="Adobe Clean Han ExtraBold"/>
                          <a:cs typeface="Adobe Clean Han ExtraBold"/>
                        </a:rPr>
                        <a:t>담당</a:t>
                      </a:r>
                      <a:endParaRPr sz="90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858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666666"/>
                          </a:solidFill>
                          <a:latin typeface="Adobe Clean Han ExtraBold"/>
                          <a:cs typeface="Adobe Clean Han ExtraBold"/>
                        </a:rPr>
                        <a:t>상태</a:t>
                      </a:r>
                      <a:endParaRPr sz="90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9525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950" dirty="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950" dirty="0">
                        <a:latin typeface="Adobe Gothic Std L"/>
                        <a:cs typeface="Adobe Gothic Std L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68580" marB="0">
                    <a:lnL w="9525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950" dirty="0">
                        <a:latin typeface="Adobe Clean Han ExtraBold"/>
                        <a:cs typeface="Adobe Clean Han ExtraBold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545454"/>
                      </a:solidFill>
                      <a:prstDash val="solid"/>
                    </a:lnL>
                    <a:lnR w="9525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40" dirty="0"/>
              <a:t>5</a:t>
            </a:fld>
            <a:endParaRPr spc="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1396</Words>
  <Application>Microsoft Office PowerPoint</Application>
  <PresentationFormat>사용자 지정</PresentationFormat>
  <Paragraphs>194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Adobe Clean Han ExtraBold</vt:lpstr>
      <vt:lpstr>Adobe Gothic Std L</vt:lpstr>
      <vt:lpstr>맑은 고딕</vt:lpstr>
      <vt:lpstr>Calibri</vt:lpstr>
      <vt:lpstr>Times New Roman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jr k</cp:lastModifiedBy>
  <cp:revision>14</cp:revision>
  <dcterms:created xsi:type="dcterms:W3CDTF">2026-08-11T10:42:51Z</dcterms:created>
  <dcterms:modified xsi:type="dcterms:W3CDTF">2026-08-11T11:45:27Z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2026-08-11T00:00:00Z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2026-08-11T00:00:00Z</vt:filetime>
  </property>
</Properties>
</file>