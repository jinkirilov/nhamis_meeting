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7561997" cy="10688330"/>
  <p:notesSz cx="10688330" cy="7561997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92608"/>
            <a:ext cx="6793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 의 록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10177272"/>
            <a:ext cx="6793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84048" y="841248"/>
            <a:ext cx="1024128" cy="384048"/>
          </a:xfrm>
          <a:prstGeom prst="rect">
            <a:avLst/>
          </a:prstGeom>
          <a:solidFill>
            <a:srgbClr val="EFEFE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841248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제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408176" y="841248"/>
            <a:ext cx="4306824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99616" y="841248"/>
            <a:ext cx="41239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국내유통망 차세대 시스템 – 물류부문 (입고 : 청구·직입고·미수령, PDA, 직송)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715000" y="841248"/>
            <a:ext cx="1463040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5000" y="85953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 의 구 분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806440" y="1170432"/>
            <a:ext cx="9144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정보전달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675120" y="1170432"/>
            <a:ext cx="41148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806440" y="1321308"/>
            <a:ext cx="9144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이해조정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806440" y="1472184"/>
            <a:ext cx="9144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의견교환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806440" y="1623060"/>
            <a:ext cx="9144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문제해결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06440" y="1773936"/>
            <a:ext cx="9144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 타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84048" y="1225296"/>
            <a:ext cx="1024128" cy="384048"/>
          </a:xfrm>
          <a:prstGeom prst="rect">
            <a:avLst/>
          </a:prstGeom>
          <a:solidFill>
            <a:srgbClr val="EFEFE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1225296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관 팀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408176" y="1225296"/>
            <a:ext cx="1810512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08176" y="1225296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모비스서비스 PI 추진팀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18688" y="1225296"/>
            <a:ext cx="932688" cy="384048"/>
          </a:xfrm>
          <a:prstGeom prst="rect">
            <a:avLst/>
          </a:prstGeom>
          <a:solidFill>
            <a:srgbClr val="EFEFE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18688" y="1225296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 성 자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51376" y="1225296"/>
            <a:ext cx="1563624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51376" y="1225296"/>
            <a:ext cx="1563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이정재 위원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4048" y="1609344"/>
            <a:ext cx="1024128" cy="384048"/>
          </a:xfrm>
          <a:prstGeom prst="rect">
            <a:avLst/>
          </a:prstGeom>
          <a:solidFill>
            <a:srgbClr val="EFEFE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1609344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 소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408176" y="1609344"/>
            <a:ext cx="1810512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08176" y="1609344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위워크선릉3 14B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18688" y="1609344"/>
            <a:ext cx="932688" cy="384048"/>
          </a:xfrm>
          <a:prstGeom prst="rect">
            <a:avLst/>
          </a:prstGeom>
          <a:solidFill>
            <a:srgbClr val="EFEFE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18688" y="1609344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 의 일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51376" y="1609344"/>
            <a:ext cx="1563624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51376" y="1609344"/>
            <a:ext cx="1563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2026.08.07 (금)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84048" y="1993392"/>
            <a:ext cx="1024128" cy="457200"/>
          </a:xfrm>
          <a:prstGeom prst="rect">
            <a:avLst/>
          </a:prstGeom>
          <a:solidFill>
            <a:srgbClr val="EFEFE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1993392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 간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408176" y="1993392"/>
            <a:ext cx="576986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08176" y="1993392"/>
            <a:ext cx="5769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09:28 ~ 10:34    10:50 ~ 11:33    13:21 ~ 14:31    14:49 ~ 14:57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84048" y="2450592"/>
            <a:ext cx="6793992" cy="292608"/>
          </a:xfrm>
          <a:prstGeom prst="rect">
            <a:avLst/>
          </a:prstGeom>
          <a:solidFill>
            <a:srgbClr val="EFEFE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2450592"/>
            <a:ext cx="6793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 석 자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84048" y="2743200"/>
            <a:ext cx="6793992" cy="1042416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" y="2798064"/>
            <a:ext cx="6519672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[모비스서비스PI 추진팀] 박지호 책임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93776" y="3022092"/>
            <a:ext cx="6519672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[모비스부품운영팀] 김창준 책임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93776" y="3246120"/>
            <a:ext cx="6519672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[수행사 기존/물류/품질] 이정재, 오국환, 김진래, 박주일, 조동명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93776" y="3470148"/>
            <a:ext cx="6519672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[수행사 데이터아키텍쳐] 이선실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84048" y="3785616"/>
            <a:ext cx="6793992" cy="292608"/>
          </a:xfrm>
          <a:prstGeom prst="rect">
            <a:avLst/>
          </a:prstGeom>
          <a:solidFill>
            <a:srgbClr val="EFEFE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" y="3785616"/>
            <a:ext cx="6793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 의 내 용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30352" y="4224528"/>
            <a:ext cx="6519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주요 설명 사항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731520" y="4572000"/>
            <a:ext cx="6336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1) 입고 기본 개념 및 CWSF 구조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932688" y="4855464"/>
            <a:ext cx="1261872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구조: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267712" y="4855464"/>
            <a:ext cx="4764024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대리점·지원센터가 청구하면 모비스가 조치하고, 그 조치 증표를 기준으로 입고를 잡음. 모비스 조치번호와 지원센터 판매번호가 CWSF 테이블에 집계되며, 청구입고 화면은 이 테이블을 조회하는 화면임.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32688" y="5578754"/>
            <a:ext cx="1261872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매칭 규칙: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267712" y="5578754"/>
            <a:ext cx="4764024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조치번호 1건에 입고번호 1건이 1:1로 매칭됨. 다만 하나의 청구번호에 조치번호가 복수로 생성될 수 있어(모비스 재고 부족으로 분할 조치) 청구 1건에 입고번호가 여러 개 생길 수 있음.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32688" y="6302045"/>
            <a:ext cx="1261872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연쇄 구조: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267712" y="6302045"/>
            <a:ext cx="4764024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모비스 조치 → 지원센터 CWSF 적재 → 지원센터 입고·직불 → 판매 처리 → 대리점 CWSF 적재 순으로 동일 프로세스가 반복됨. 테이블은 SWR(대리점 청구)과 지원센터 청구가 분리되어 있음.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932688" y="7025335"/>
            <a:ext cx="1261872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체계: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267712" y="7025335"/>
            <a:ext cx="4764024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업체코드는 4자리(모비스=0001)이며 지원센터도 거래처 코드로 개별 등록해야 정산이 가능함. 계열코드는 향후 HK → HKC 로 표기 변경 예정.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31520" y="7559345"/>
            <a:ext cx="6336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2) 청구입고(웹) : 주문번호 매칭에 따른 직불 처리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932688" y="7842809"/>
            <a:ext cx="1261872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매칭 O: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2267712" y="7842809"/>
            <a:ext cx="4764024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잔여 주문수량(자녀 주문수량)이 있는 건은 웹에서 일괄 자동 판매(직불) 처리됨. 처리 대상과 수량이 명확하므로 자동화 가능.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932688" y="8376818"/>
            <a:ext cx="1261872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매칭 X: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2267712" y="8376818"/>
            <a:ext cx="4764024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주문번호가 매칭되지 않은 건은 저장 처리만 가능하며, 총주문수량은 참고 정보로만 표시됨. 어느 주문에 배분할지 시스템이 판단할 수 없어 웹에서는 판매 기능을 제공하지 않음.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932688" y="9100109"/>
            <a:ext cx="1261872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사유: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2267712" y="9100109"/>
            <a:ext cx="4764024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웹은 한 번에 30~40건을 일괄 처리하는 경우가 많아 건별 팝업 방식은 처리 지연과 오류를 유발함. 실제 주문번호가 물린 건은 전체의 약 20% 수준임.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84048" y="4078224"/>
            <a:ext cx="6793992" cy="5998464"/>
          </a:xfrm>
          <a:prstGeom prst="rect">
            <a:avLst/>
          </a:prstGeom>
          <a:ln w="9525">
            <a:solidFill>
              <a:srgbClr val="55555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0177272"/>
            <a:ext cx="6793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384048" y="384048"/>
            <a:ext cx="6793992" cy="292608"/>
          </a:xfrm>
          <a:prstGeom prst="rect">
            <a:avLst/>
          </a:prstGeom>
          <a:solidFill>
            <a:srgbClr val="EFEFE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384048"/>
            <a:ext cx="6793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 의 내 용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32688" y="822960"/>
            <a:ext cx="1261872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수량 개념: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67712" y="822960"/>
            <a:ext cx="4764024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주문수량은 해당 주문번호의 잔여 수량, 총주문수량은 그 부품에 걸린 전체 잔여 주문수량의 합계이며 둘 다 실시간 조회값임.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356970"/>
            <a:ext cx="6336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3) 미수령 처리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32688" y="1640434"/>
            <a:ext cx="1261872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방식: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67712" y="1640434"/>
            <a:ext cx="4764024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미수령 등록 시 해당 수량은 통제재고로 잡히고, 미수령 화면에서 저장 시 통제를 해제하는 조정이 이루어짐. 관할 사업소 통보를 위한 팩스 발송 기능이 화면에 포함됨.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32688" y="2363724"/>
            <a:ext cx="1261872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 한계: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67712" y="2363724"/>
            <a:ext cx="4764024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입고번호가 생성되는 시점에 입고·직불·미수령 수량이 모두 확정되므로, 이후 미수령을 해제해도 직불을 추가로 떨어뜨리지 않고 가용재고 증가로만 처리함.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32688" y="2897734"/>
            <a:ext cx="1261872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용어 변경: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67712" y="2897734"/>
            <a:ext cx="4764024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미수령 화면의 '저장'은 실제로 조정 행위이므로 '조정'으로, '삭제'는 '통제 취소'로 명칭을 변경하기로 함.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431743"/>
            <a:ext cx="6336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4) 직입고 (청구 없는 입고)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32688" y="3715207"/>
            <a:ext cx="1261872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67712" y="3715207"/>
            <a:ext cx="4764024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 메이커 부품이나 타 대리점 재고 구매 등 청구 절차 없이 재고를 확보한 경우에 사용하며, 임의 업체코드를 등록해 입고를 잡음. 구입 단가는 대리점이 직접 입력함.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32688" y="4438498"/>
            <a:ext cx="1261872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문제: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67712" y="4438498"/>
            <a:ext cx="4764024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엑셀과 매크로로 입고번호 하나에 수백 건을 한 번에 쌓아 저장하는 사례가 다수 있음.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32688" y="4972507"/>
            <a:ext cx="1261872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입고판매: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67712" y="4972507"/>
            <a:ext cx="4764024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직입고는 주문번호가 물려 있지 않으므로 해당 부품의 총주문수량을 조회하여 판매 대상을 판단함. 1회 처리는 최대 5라인으로 제한하고 라인마다 팝업으로 판매처를 선택하도록 함.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5695798"/>
            <a:ext cx="6336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5) PDA 입고분류 · 저장 체계 재편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32688" y="5979262"/>
            <a:ext cx="1261872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구분: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267712" y="5979262"/>
            <a:ext cx="4764024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 단계에서 입고번호가 생성되며 '입고대기 → 저장대기'로 상태가 전환되고, 저장 단계에서 로케이션 가용재고로 확정됨. 분류 시점에도 직불 처리는 함께 수행되어야 함.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32688" y="6702552"/>
            <a:ext cx="1261872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분리: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67712" y="6702552"/>
            <a:ext cx="4764024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기존에는 분류 여부와 무관하게 모든 상태값을 불러와 저장할 수 있었으나, 앞으로는 분류한 건은 '분류 후 정렬입고저장'에서만, 분류하지 않은 건은 '일반 입고저장'에서만 처리하도록 분리함.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32688" y="7425842"/>
            <a:ext cx="1261872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일괄 처리: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267712" y="7425842"/>
            <a:ext cx="4764024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분류가 끝난 건은 직불이 이미 종료되었으므로 일괄 선택 저장을 허용함. 팝업은 자동으로 띄우지 않고 대상 건수만 표시하되, 수량이 맞지 않을 때 대상 내역을 열어 확인할 수 있도록 함.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32688" y="8149133"/>
            <a:ext cx="1261872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필드 전환: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267712" y="8149133"/>
            <a:ext cx="4764024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대리점은 '주문수량' 기준, 지원센터는 '청구수량' 기준으로 화면 필드와 메시지가 전환되어야 함(프로세스와 CWSF 유입 구조는 동일).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" y="8683142"/>
            <a:ext cx="6336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6) PDA 직불 처리 방식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32688" y="8966606"/>
            <a:ext cx="1261872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원바이원: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267712" y="8966606"/>
            <a:ext cx="4764024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주문번호가 매칭된 건은 조치 증표 단위로 한 건씩 처리하며, 처리 결과(판매 수량·저장 수량)를 팝업 메시지로 표시함. 'ALL' 기능으로 다음 건이 자동 조회되도록 하여 반복 스캔 부담을 줄임.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84048" y="676656"/>
            <a:ext cx="6793992" cy="9400032"/>
          </a:xfrm>
          <a:prstGeom prst="rect">
            <a:avLst/>
          </a:prstGeom>
          <a:ln w="9525">
            <a:solidFill>
              <a:srgbClr val="555555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0177272"/>
            <a:ext cx="6793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384048" y="384048"/>
            <a:ext cx="6793992" cy="292608"/>
          </a:xfrm>
          <a:prstGeom prst="rect">
            <a:avLst/>
          </a:prstGeom>
          <a:solidFill>
            <a:srgbClr val="EFEFE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384048"/>
            <a:ext cx="6793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 의 내 용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32688" y="822960"/>
            <a:ext cx="126187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일괄: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67712" y="822960"/>
            <a:ext cx="4764024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주문번호가 없는 건은 일괄 선택 후 저장할 수 있도록 함.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" y="1170432"/>
            <a:ext cx="1261872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부분 판매: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67712" y="1170432"/>
            <a:ext cx="4764024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수량보다 주문 수량이 많은 경우는 선택할 수 없도록 막고, 부분 판매 개념은 두지 않으며 남는 수량은 저장 처리하는 방향으로 정리함.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32688" y="1704442"/>
            <a:ext cx="1261872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증표 관계: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67712" y="1704442"/>
            <a:ext cx="4764024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입고증표 1건에 판매증표는 여러 건이 생성될 수 있으므로, 입고 테이블에는 판매번호를 두지 않고 직불 수량만 관리함. 판매번호 확인은 판매 테이블에서 입고번호로 역조회함.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427732"/>
            <a:ext cx="6336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7) 직송입고 및 ASM 납입처리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32688" y="2711196"/>
            <a:ext cx="1261872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67712" y="2711196"/>
            <a:ext cx="4764024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협력·생산업체에서 지원센터로 물건이 직송된 경우 모비스가 실물을 본 적이 없어 조치 증표가 생성되지 않으며, 이 상태로는 입고를 잡을 수 없음.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32688" y="3245206"/>
            <a:ext cx="1261872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방식: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67712" y="3245206"/>
            <a:ext cx="4764024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지원센터가 ASM 번호(업체 납품 번호)를 조회하여 도착 수량을 입력하고 대신 납입 처리를 수행하면, 조치 증표가 생성되고 CWSF까지 내려와 정상 입고가 가능해짐.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32688" y="3968496"/>
            <a:ext cx="1261872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사항: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67712" y="3968496"/>
            <a:ext cx="4764024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납입 처리와 입고 처리를 두 단계로 나눌 필요가 있는지, 한 화면에서 입고까지 완결할 수 있는지 추가 확인이 필요함. 파렛트·케이스 단위 일괄 도착 보고 가능 여부도 함께 확인하기로 함.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691786"/>
            <a:ext cx="6336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8) 도착처리 및 피킹일자 조건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32688" y="4975250"/>
            <a:ext cx="1261872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67712" y="4975250"/>
            <a:ext cx="4764024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CWSF에 조치 증표가 내려와도 관할 사업소의 피킹일자가 찍혀야만 입고를 잡을 수 있음. 물류센터에서만 조치된 건은 조회는 되지만 입고가 불가함.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32688" y="5509260"/>
            <a:ext cx="1261872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방식: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67712" y="5509260"/>
            <a:ext cx="4764024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물건이 이미 도착한 예외 상황을 위해 파렛트 단위로 조회하여 피킹일자를 강제로 기록하는 화면을 별도로 둠. 조치가 완료된 건이므로 수량 변경은 불가하고 상태값만 갱신함.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32688" y="6232550"/>
            <a:ext cx="1261872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인터페이스: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67712" y="6232550"/>
            <a:ext cx="4764024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UWSF → CWSF 데이터 연계는 실시간(수분 단위) 인터페이스로 동작하는 것으로 정리함.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6766560"/>
            <a:ext cx="6336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9) 테이블 및 번호 체계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32688" y="7050024"/>
            <a:ext cx="1261872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테이블 분리: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267712" y="7050024"/>
            <a:ext cx="4764024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기존에는 단일 전표 테이블에서 앞자리 구분값으로 입고·판매·조정을 함께 관리하였으나, 필드명이 판매 기준으로 되어 있어 혼선이 큼. 이번에 입고를 별도 테이블로 분리함.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32688" y="7773314"/>
            <a:ext cx="1261872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헤더-디테일: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267712" y="7773314"/>
            <a:ext cx="4764024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직입고는 입고번호 하나에 수십~수백 품목이 걸릴 수 있으므로, 헤더 테이블에서 항목 수를 관리하고 디테일 테이블에서 부품별로 관리하는 구조로 설계함(판매 테이블과 동일 방식).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32688" y="8496605"/>
            <a:ext cx="1261872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 테이블: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267712" y="8496605"/>
            <a:ext cx="4764024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주문번호 테이블이 신설되며, 청구 테이블이 주문번호를 물고 조치 테이블이 청구번호를 물어 입고 시점에 잔여 주문수량을 판단하는 구조임.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20" y="9030614"/>
            <a:ext cx="6336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10) 현행 무재고 판매 · 역조정 프로세스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32688" y="9314078"/>
            <a:ext cx="1261872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동작: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267712" y="9314078"/>
            <a:ext cx="4764024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재고가 0인 상태에서 판매하기 위해 무재고 조정으로 재고를 늘려 판매하고, 이후 입고가 되면 가장 오래된 건부터 자동으로 역조정되어 재고가 다시 차감됨.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84048" y="676656"/>
            <a:ext cx="6793992" cy="9400032"/>
          </a:xfrm>
          <a:prstGeom prst="rect">
            <a:avLst/>
          </a:prstGeom>
          <a:ln w="9525">
            <a:solidFill>
              <a:srgbClr val="555555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0177272"/>
            <a:ext cx="6793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384048" y="384048"/>
            <a:ext cx="6793992" cy="292608"/>
          </a:xfrm>
          <a:prstGeom prst="rect">
            <a:avLst/>
          </a:prstGeom>
          <a:solidFill>
            <a:srgbClr val="EFEFE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384048"/>
            <a:ext cx="6793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 의 내 용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32688" y="822960"/>
            <a:ext cx="1261872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시사점: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67712" y="822960"/>
            <a:ext cx="4764024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현행에서도 사실상 직불에 해당하는 행위가 재고상으로 이루어지고 있으나 작업자는 이를 인지하지 못함. 긴급건은 아예 저장하지 않고 별도로 빼두는 방식으로 운영되고 있음.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" y="1546250"/>
            <a:ext cx="6519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협의 및 결정 사항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1893722"/>
            <a:ext cx="6336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1) 분류 후 미수령 등록 (미결)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32688" y="2177186"/>
            <a:ext cx="1261872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67712" y="2177186"/>
            <a:ext cx="4764024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입고번호가 생성된 이후에는 미수령을 등록할 수 없어, 대리점들이 분류 기능을 기피하는 주요 원인이 되고 있음. 분류 시점에 수량을 정확히 셀 수 없다는 것이 현장 의견임.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32688" y="2900477"/>
            <a:ext cx="1261872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논의 내용: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67712" y="2900477"/>
            <a:ext cx="4764024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저장대기 상태의 수량을 미수령으로 전환할 수 있는 기능을 두자는 안이 제시됨. PDA에서는 어렵더라도 웹에서 저장 전 상태에 한해 미수령 등록을 허용하는 방안을 검토함.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32688" y="3623767"/>
            <a:ext cx="1261872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전제 조건: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67712" y="3623767"/>
            <a:ext cx="4764024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미수령 등록 후 모비스에 팩스를 보낼 수 있는 시점이 저장 전까지 유효한지 내부 협의가 선행되어야 함. 결론은 추가 검토로 유보함.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157777"/>
            <a:ext cx="6336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2) 분류 전 정렬입고저장 폐지 (재검토)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32688" y="4441241"/>
            <a:ext cx="1261872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67712" y="4441241"/>
            <a:ext cx="4764024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리스트를 만든 뒤 일괄 저장하는 정렬입고저장은 직불 대상이 섞이면 라인을 분할해야 하므로 기능 구현이 어려워 분류 후에만 사용 가능하도록 제한함.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32688" y="4975250"/>
            <a:ext cx="1261872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우려 사항: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67712" y="4975250"/>
            <a:ext cx="4764024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기존에 사용하던 기능을 없애는 것이므로 오픈 시 현장 불만이 클 것으로 예상됨. 변화 관리만으로는 현장까지 전달되기 어렵다는 지적이 있었음.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32688" y="5509260"/>
            <a:ext cx="1261872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방향: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67712" y="5509260"/>
            <a:ext cx="4764024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직불 대상 여부 필드를 추가해 표시만 하고 대상 건은 별도 처리하도록 유지하는 방안을 함께 검토하기로 함.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6043270"/>
            <a:ext cx="6336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3) 직불 처리 옵션 체계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32688" y="6326734"/>
            <a:ext cx="1261872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 사항: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67712" y="6326734"/>
            <a:ext cx="4764024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직불 처리는 ① 주문번호가 매칭된 건만 처리, ② 주문번호 유무와 무관하게 팝업으로 선택 처리, ③ 직불 미사용의 세 가지 옵션으로 개발하되, 오픈 시점에는 ①을 기본값으로 고정하고 나머지는 비활성화함.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32688" y="7050024"/>
            <a:ext cx="1261872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방침: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267712" y="7050024"/>
            <a:ext cx="4764024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불만이 커질 경우에 한해 옵션을 활성화하며, 직입고 화면에서는 상위 옵션 설정과 무관하게 직불 판매를 선택할 수 있도록 허용함.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7584034"/>
            <a:ext cx="6336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4) 직입고 리스트 일괄 등록 폐지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32688" y="7867498"/>
            <a:ext cx="1261872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 사항: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267712" y="7867498"/>
            <a:ext cx="4764024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직입고는 부품을 스캔하고 단가·수량을 입력해 한 건씩 저장하는 방식으로 변경함. 리스트를 쌓아 일괄 저장하면 직불 처리가 꼬일 수 있어 기존 방식을 포기함.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32688" y="8401507"/>
            <a:ext cx="1261872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영향: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267712" y="8401507"/>
            <a:ext cx="4764024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대리점 간 재고 거래 등 대량 구매 시 불편이 예상되므로 사용 추이를 보며 보완하기로 함.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20" y="8935517"/>
            <a:ext cx="6336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5) 판매 결과 메시지 표시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32688" y="9218981"/>
            <a:ext cx="1261872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논의 내용: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267712" y="9218981"/>
            <a:ext cx="4764024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직불 처리 후 어느 거래처에 판매되었는지 알 수 없으면 작업자가 증표를 재조회해 다시 분류하는 이중 작업이 발생함.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84048" y="676656"/>
            <a:ext cx="6793992" cy="9400032"/>
          </a:xfrm>
          <a:prstGeom prst="rect">
            <a:avLst/>
          </a:prstGeom>
          <a:ln w="9525">
            <a:solidFill>
              <a:srgbClr val="555555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0177272"/>
            <a:ext cx="6793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384048" y="384048"/>
            <a:ext cx="6793992" cy="292608"/>
          </a:xfrm>
          <a:prstGeom prst="rect">
            <a:avLst/>
          </a:prstGeom>
          <a:solidFill>
            <a:srgbClr val="EFEFE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384048"/>
            <a:ext cx="6793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 의 내 용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32688" y="822960"/>
            <a:ext cx="1261872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 사항: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67712" y="822960"/>
            <a:ext cx="4764024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입고저장은 조치 증표를 한 건씩 매칭하므로 판매된 거래처를 메시지로 표시하고, 다수 주문이 엮이는 경우에는 주문 건수와 판매 수량 수준으로만 표시하기로 함.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546250"/>
            <a:ext cx="6336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6) PDA 화면 링크 방식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32688" y="1829714"/>
            <a:ext cx="1261872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논의 내용: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67712" y="1829714"/>
            <a:ext cx="4764024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그리드 라인에 링크를 거는 방식은 오터치가 잦고 버튼 크기 확대 요청이 많으므로, 하단 버튼 방식으로 통일하기로 함.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32688" y="2363724"/>
            <a:ext cx="1261872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주문내역 조회: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67712" y="2363724"/>
            <a:ext cx="4764024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목적별 주문 내역을 조회하는 화면을 제공하되, 조치 증표 단위 매칭은 주문 테이블 구조상 어려우므로 수량 수준까지만 표시하기로 함.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897734"/>
            <a:ext cx="6336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7) 파일럿 범위 관련 이견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32688" y="3181198"/>
            <a:ext cx="1261872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논의 내용: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67712" y="3181198"/>
            <a:ext cx="4764024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모듈이 구축되지 않은 상태에서 주문번호 기준 전 구간 흐름을 파일럿으로 검증하는 것이 가능한지에 대해 이견이 있었음. 통합 테스트 단계에서 확인할 항목이라는 의견과, 엔드유저 사용성 확인이 필요하다는 의견이 대립함.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32688" y="3904488"/>
            <a:ext cx="1261872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사항: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67712" y="3904488"/>
            <a:ext cx="4764024" cy="4059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중 사용 빈도가 높은 주요 화면에 주문번호를 태워 검증하는 범위로 조정이 필요하며, 별도 협의하기로 함.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676656"/>
            <a:ext cx="6793992" cy="3816706"/>
          </a:xfrm>
          <a:prstGeom prst="rect">
            <a:avLst/>
          </a:prstGeom>
          <a:ln w="9525">
            <a:solidFill>
              <a:srgbClr val="5555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4493362"/>
            <a:ext cx="6793992" cy="292608"/>
          </a:xfrm>
          <a:prstGeom prst="rect">
            <a:avLst/>
          </a:prstGeom>
          <a:solidFill>
            <a:srgbClr val="EFEFE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" y="4493362"/>
            <a:ext cx="6519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Action Item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4048" y="4785970"/>
            <a:ext cx="502920" cy="274320"/>
          </a:xfrm>
          <a:prstGeom prst="rect">
            <a:avLst/>
          </a:prstGeom>
          <a:solidFill>
            <a:srgbClr val="EFEFE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" y="4785970"/>
            <a:ext cx="4187952" cy="274320"/>
          </a:xfrm>
          <a:prstGeom prst="rect">
            <a:avLst/>
          </a:prstGeom>
          <a:solidFill>
            <a:srgbClr val="EFEFE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74920" y="4785970"/>
            <a:ext cx="1371600" cy="274320"/>
          </a:xfrm>
          <a:prstGeom prst="rect">
            <a:avLst/>
          </a:prstGeom>
          <a:solidFill>
            <a:srgbClr val="EFEFE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6520" y="4785970"/>
            <a:ext cx="731520" cy="274320"/>
          </a:xfrm>
          <a:prstGeom prst="rect">
            <a:avLst/>
          </a:prstGeom>
          <a:solidFill>
            <a:srgbClr val="EFEFE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478597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96696" y="4785970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74920" y="478597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46520" y="478597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84048" y="5060290"/>
            <a:ext cx="5029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6968" y="5060290"/>
            <a:ext cx="418795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74920" y="5060290"/>
            <a:ext cx="13716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46520" y="5060290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506029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96696" y="5060290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미수령 화면 용어 변경 (저장 → 조정 / 삭제 → 통제 취소)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74920" y="506029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수행사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46520" y="506029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84048" y="5334610"/>
            <a:ext cx="5029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6968" y="5334610"/>
            <a:ext cx="418795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74920" y="5334610"/>
            <a:ext cx="13716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46520" y="5334610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533461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96696" y="5334610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 후(저장대기) 상태의 미수령 등록 기능 도입 여부 결정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074920" y="533461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수행사 / 모비스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46520" y="533461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미결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84048" y="5608930"/>
            <a:ext cx="5029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86968" y="5608930"/>
            <a:ext cx="418795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74920" y="5608930"/>
            <a:ext cx="13716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46520" y="5608930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4048" y="560893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996696" y="5608930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미수령 팩스 발송 가능 시점(저장 전까지) 내부 협의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074920" y="560893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모비스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446520" y="560893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미결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84048" y="5883250"/>
            <a:ext cx="5029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86968" y="5883250"/>
            <a:ext cx="418795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074920" y="5883250"/>
            <a:ext cx="13716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446520" y="5883250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4048" y="588325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996696" y="5883250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 전 정렬입고저장 폐지 여부 및 대안 검토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074920" y="588325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수행사 / 모비스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446520" y="588325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재검토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84048" y="6157570"/>
            <a:ext cx="5029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86968" y="6157570"/>
            <a:ext cx="418795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074920" y="6157570"/>
            <a:ext cx="13716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446520" y="6157570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84048" y="615757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996696" y="6157570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직불 처리 옵션 3종 개발 및 오픈 시 기본값 고정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5074920" y="615757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수행사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446520" y="615757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84048" y="6431890"/>
            <a:ext cx="5029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86968" y="6431890"/>
            <a:ext cx="418795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074920" y="6431890"/>
            <a:ext cx="13716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446520" y="6431890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84048" y="643189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996696" y="6431890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직입고 리스트 일괄 등록 폐지에 따른 현장 영향 검토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074920" y="643189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수행사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6446520" y="643189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384048" y="6706210"/>
            <a:ext cx="5029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86968" y="6706210"/>
            <a:ext cx="418795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074920" y="6706210"/>
            <a:ext cx="13716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446520" y="6706210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84048" y="670621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996696" y="6706210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직불 판매 결과 메시지(거래처·건수) 표시 기준 확정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5074920" y="670621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수행사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6446520" y="670621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384048" y="6980530"/>
            <a:ext cx="5029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86968" y="6980530"/>
            <a:ext cx="418795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074920" y="6980530"/>
            <a:ext cx="13716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446520" y="6980530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84048" y="698053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996696" y="6980530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직송입고 납입처리와 입고처리 통합 가능 여부 확인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5074920" y="698053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수행사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6446520" y="698053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384048" y="7254850"/>
            <a:ext cx="5029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86968" y="7254850"/>
            <a:ext cx="418795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074920" y="7254850"/>
            <a:ext cx="13716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446520" y="7254850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84048" y="725485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50" dirty="0"/>
          </a:p>
        </p:txBody>
      </p:sp>
      <p:sp>
        <p:nvSpPr>
          <p:cNvPr id="97" name="Text 95"/>
          <p:cNvSpPr/>
          <p:nvPr/>
        </p:nvSpPr>
        <p:spPr>
          <a:xfrm>
            <a:off x="996696" y="7254850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파렛트·케이스 단위 일괄 도착 보고 지원 여부 확인</a:t>
            </a:r>
            <a:endParaRPr lang="en-US" sz="950" dirty="0"/>
          </a:p>
        </p:txBody>
      </p:sp>
      <p:sp>
        <p:nvSpPr>
          <p:cNvPr id="98" name="Text 96"/>
          <p:cNvSpPr/>
          <p:nvPr/>
        </p:nvSpPr>
        <p:spPr>
          <a:xfrm>
            <a:off x="5074920" y="725485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수행사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6446520" y="725485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384048" y="7529170"/>
            <a:ext cx="5029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86968" y="7529170"/>
            <a:ext cx="418795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074920" y="7529170"/>
            <a:ext cx="13716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446520" y="7529170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84048" y="752917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50" dirty="0"/>
          </a:p>
        </p:txBody>
      </p:sp>
      <p:sp>
        <p:nvSpPr>
          <p:cNvPr id="105" name="Text 103"/>
          <p:cNvSpPr/>
          <p:nvPr/>
        </p:nvSpPr>
        <p:spPr>
          <a:xfrm>
            <a:off x="996696" y="7529170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입고 테이블 분리 및 헤더·디테일 구조 설계</a:t>
            </a:r>
            <a:endParaRPr lang="en-US" sz="950" dirty="0"/>
          </a:p>
        </p:txBody>
      </p:sp>
      <p:sp>
        <p:nvSpPr>
          <p:cNvPr id="106" name="Text 104"/>
          <p:cNvSpPr/>
          <p:nvPr/>
        </p:nvSpPr>
        <p:spPr>
          <a:xfrm>
            <a:off x="5074920" y="752917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수행사 / DA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6446520" y="752917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384048" y="7803490"/>
            <a:ext cx="5029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86968" y="7803490"/>
            <a:ext cx="418795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074920" y="7803490"/>
            <a:ext cx="13716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446520" y="7803490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84048" y="780349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50" dirty="0"/>
          </a:p>
        </p:txBody>
      </p:sp>
      <p:sp>
        <p:nvSpPr>
          <p:cNvPr id="113" name="Text 111"/>
          <p:cNvSpPr/>
          <p:nvPr/>
        </p:nvSpPr>
        <p:spPr>
          <a:xfrm>
            <a:off x="996696" y="7803490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주문번호 테이블 신설 및 청구·조치 연계 구조 정의</a:t>
            </a:r>
            <a:endParaRPr lang="en-US" sz="950" dirty="0"/>
          </a:p>
        </p:txBody>
      </p:sp>
      <p:sp>
        <p:nvSpPr>
          <p:cNvPr id="114" name="Text 112"/>
          <p:cNvSpPr/>
          <p:nvPr/>
        </p:nvSpPr>
        <p:spPr>
          <a:xfrm>
            <a:off x="5074920" y="780349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수행사 / DA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446520" y="780349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</a:t>
            </a:r>
            <a:endParaRPr lang="en-US" sz="950" dirty="0"/>
          </a:p>
        </p:txBody>
      </p:sp>
      <p:sp>
        <p:nvSpPr>
          <p:cNvPr id="116" name="Shape 114"/>
          <p:cNvSpPr/>
          <p:nvPr/>
        </p:nvSpPr>
        <p:spPr>
          <a:xfrm>
            <a:off x="384048" y="8077810"/>
            <a:ext cx="5029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86968" y="8077810"/>
            <a:ext cx="418795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074920" y="8077810"/>
            <a:ext cx="13716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446520" y="8077810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384048" y="807781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50" dirty="0"/>
          </a:p>
        </p:txBody>
      </p:sp>
      <p:sp>
        <p:nvSpPr>
          <p:cNvPr id="121" name="Text 119"/>
          <p:cNvSpPr/>
          <p:nvPr/>
        </p:nvSpPr>
        <p:spPr>
          <a:xfrm>
            <a:off x="996696" y="8077810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파일럿 검증 범위(주문번호 적용 화면) 재협의</a:t>
            </a:r>
            <a:endParaRPr lang="en-US" sz="950" dirty="0"/>
          </a:p>
        </p:txBody>
      </p:sp>
      <p:sp>
        <p:nvSpPr>
          <p:cNvPr id="122" name="Text 120"/>
          <p:cNvSpPr/>
          <p:nvPr/>
        </p:nvSpPr>
        <p:spPr>
          <a:xfrm>
            <a:off x="5074920" y="807781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모비스 / 수행사</a:t>
            </a:r>
            <a:endParaRPr lang="en-US" sz="900" dirty="0"/>
          </a:p>
        </p:txBody>
      </p:sp>
      <p:sp>
        <p:nvSpPr>
          <p:cNvPr id="123" name="Text 121"/>
          <p:cNvSpPr/>
          <p:nvPr/>
        </p:nvSpPr>
        <p:spPr>
          <a:xfrm>
            <a:off x="6446520" y="807781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협의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2026-08-08T09:48:45Z</dcterms:created>
  <dcterms:modified xsi:type="dcterms:W3CDTF">2026-08-08T09:48:45Z</dcterms:modified>
</cp:coreProperties>
</file>